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ompt Medium" charset="1" panose="00000600000000000000"/>
      <p:regular r:id="rId19"/>
    </p:embeddedFont>
    <p:embeddedFont>
      <p:font typeface="Mukta Light" charset="1" panose="020B0000000000000000"/>
      <p:regular r:id="rId20"/>
    </p:embeddedFont>
    <p:embeddedFont>
      <p:font typeface="Mukta Bold" charset="1" panose="020B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080" r="0" b="-408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4647" y="874811"/>
            <a:ext cx="9460706" cy="23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Penerapan Konsep Matriks untuk Penyelesaian Masalah Komputasi dalam Informatika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4647" y="3574554"/>
            <a:ext cx="9460706" cy="54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Studi Kasus: Analisis Jaringan Sosial Media Kampus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647" y="4708029"/>
            <a:ext cx="3125986" cy="4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Kelompok: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67722" y="4708029"/>
            <a:ext cx="3125986" cy="4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Anggota: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67722" y="5294262"/>
            <a:ext cx="4387155" cy="9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[Muhammad Vigar Septianta Pratama] - [240602010]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67722" y="6292751"/>
            <a:ext cx="4387155" cy="9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[Andika Eka Putra Yuianto] - [240602021]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67722" y="7291239"/>
            <a:ext cx="4387155" cy="9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[Muhammad Zaki Azhari] - [240602023]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67722" y="8289726"/>
            <a:ext cx="4387155" cy="99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[Rohmah Nur Hidayah] - [240602026]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6241" y="718691"/>
            <a:ext cx="9236571" cy="755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Tujuan &amp; Ruang Lingkup Proyek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86241" y="2270224"/>
            <a:ext cx="9573517" cy="3599706"/>
            <a:chOff x="0" y="0"/>
            <a:chExt cx="12764690" cy="4799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64770" cy="4799584"/>
            </a:xfrm>
            <a:custGeom>
              <a:avLst/>
              <a:gdLst/>
              <a:ahLst/>
              <a:cxnLst/>
              <a:rect r="r" b="b" t="t" l="l"/>
              <a:pathLst>
                <a:path h="4799584" w="1276477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581890" y="0"/>
                  </a:lnTo>
                  <a:cubicBezTo>
                    <a:pt x="12682855" y="0"/>
                    <a:pt x="12764770" y="81915"/>
                    <a:pt x="12764770" y="182880"/>
                  </a:cubicBezTo>
                  <a:lnTo>
                    <a:pt x="12764770" y="4616704"/>
                  </a:lnTo>
                  <a:cubicBezTo>
                    <a:pt x="12764770" y="4717669"/>
                    <a:pt x="12682855" y="4799584"/>
                    <a:pt x="12581890" y="4799584"/>
                  </a:cubicBezTo>
                  <a:lnTo>
                    <a:pt x="182880" y="4799584"/>
                  </a:lnTo>
                  <a:cubicBezTo>
                    <a:pt x="81915" y="4799584"/>
                    <a:pt x="0" y="4717669"/>
                    <a:pt x="0" y="4616704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786241" y="2241649"/>
            <a:ext cx="9573517" cy="114300"/>
            <a:chOff x="0" y="0"/>
            <a:chExt cx="12764690" cy="15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64643" cy="152400"/>
            </a:xfrm>
            <a:custGeom>
              <a:avLst/>
              <a:gdLst/>
              <a:ahLst/>
              <a:cxnLst/>
              <a:rect r="r" b="b" t="t" l="l"/>
              <a:pathLst>
                <a:path h="152400" w="1276464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688443" y="0"/>
                  </a:lnTo>
                  <a:cubicBezTo>
                    <a:pt x="12730480" y="0"/>
                    <a:pt x="12764643" y="34163"/>
                    <a:pt x="12764643" y="76200"/>
                  </a:cubicBezTo>
                  <a:cubicBezTo>
                    <a:pt x="12764643" y="118237"/>
                    <a:pt x="12730480" y="152400"/>
                    <a:pt x="12688443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5182" y="1872406"/>
            <a:ext cx="795635" cy="795635"/>
            <a:chOff x="0" y="0"/>
            <a:chExt cx="1060847" cy="10608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831" cy="1060831"/>
            </a:xfrm>
            <a:custGeom>
              <a:avLst/>
              <a:gdLst/>
              <a:ahLst/>
              <a:cxnLst/>
              <a:rect r="r" b="b" t="t" l="l"/>
              <a:pathLst>
                <a:path h="1060831" w="1060831">
                  <a:moveTo>
                    <a:pt x="0" y="530479"/>
                  </a:moveTo>
                  <a:cubicBezTo>
                    <a:pt x="0" y="237490"/>
                    <a:pt x="237490" y="0"/>
                    <a:pt x="530479" y="0"/>
                  </a:cubicBezTo>
                  <a:cubicBezTo>
                    <a:pt x="823468" y="0"/>
                    <a:pt x="1060831" y="237490"/>
                    <a:pt x="1060831" y="530479"/>
                  </a:cubicBezTo>
                  <a:cubicBezTo>
                    <a:pt x="1060831" y="823468"/>
                    <a:pt x="823341" y="1060831"/>
                    <a:pt x="530479" y="1060831"/>
                  </a:cubicBezTo>
                  <a:cubicBezTo>
                    <a:pt x="237617" y="1060831"/>
                    <a:pt x="0" y="823341"/>
                    <a:pt x="0" y="530479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2413902" y="2110979"/>
            <a:ext cx="318195" cy="318195"/>
          </a:xfrm>
          <a:custGeom>
            <a:avLst/>
            <a:gdLst/>
            <a:ahLst/>
            <a:cxnLst/>
            <a:rect r="r" b="b" t="t" l="l"/>
            <a:pathLst>
              <a:path h="318195" w="318195">
                <a:moveTo>
                  <a:pt x="0" y="0"/>
                </a:moveTo>
                <a:lnTo>
                  <a:pt x="318196" y="0"/>
                </a:lnTo>
                <a:lnTo>
                  <a:pt x="318196" y="318195"/>
                </a:lnTo>
                <a:lnTo>
                  <a:pt x="0" y="3181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80027" y="2914204"/>
            <a:ext cx="3536602" cy="46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Tujuan Proyek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80027" y="3448645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Mengimplementasikan dan menerapkan konsep matriks untuk: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80027" y="4032051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Operasi dasar matriks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80027" y="4549080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Dekomposisi matriks (LU, QR, Eigenvalue)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0027" y="5066110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Pemodelan graf jaringan sosial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786241" y="6532960"/>
            <a:ext cx="9573517" cy="3016300"/>
            <a:chOff x="0" y="0"/>
            <a:chExt cx="12764690" cy="40217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64770" cy="4021709"/>
            </a:xfrm>
            <a:custGeom>
              <a:avLst/>
              <a:gdLst/>
              <a:ahLst/>
              <a:cxnLst/>
              <a:rect r="r" b="b" t="t" l="l"/>
              <a:pathLst>
                <a:path h="4021709" w="1276477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581890" y="0"/>
                  </a:lnTo>
                  <a:cubicBezTo>
                    <a:pt x="12682855" y="0"/>
                    <a:pt x="12764770" y="81915"/>
                    <a:pt x="12764770" y="182880"/>
                  </a:cubicBezTo>
                  <a:lnTo>
                    <a:pt x="12764770" y="3838829"/>
                  </a:lnTo>
                  <a:cubicBezTo>
                    <a:pt x="12764770" y="3939794"/>
                    <a:pt x="12682855" y="4021709"/>
                    <a:pt x="12581890" y="4021709"/>
                  </a:cubicBezTo>
                  <a:lnTo>
                    <a:pt x="182880" y="4021709"/>
                  </a:lnTo>
                  <a:cubicBezTo>
                    <a:pt x="81915" y="4021709"/>
                    <a:pt x="0" y="3939794"/>
                    <a:pt x="0" y="3838829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786241" y="6504385"/>
            <a:ext cx="9573517" cy="114300"/>
            <a:chOff x="0" y="0"/>
            <a:chExt cx="12764690" cy="152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64643" cy="152400"/>
            </a:xfrm>
            <a:custGeom>
              <a:avLst/>
              <a:gdLst/>
              <a:ahLst/>
              <a:cxnLst/>
              <a:rect r="r" b="b" t="t" l="l"/>
              <a:pathLst>
                <a:path h="152400" w="1276464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688443" y="0"/>
                  </a:lnTo>
                  <a:cubicBezTo>
                    <a:pt x="12730480" y="0"/>
                    <a:pt x="12764643" y="34163"/>
                    <a:pt x="12764643" y="76200"/>
                  </a:cubicBezTo>
                  <a:cubicBezTo>
                    <a:pt x="12764643" y="118237"/>
                    <a:pt x="12730480" y="152400"/>
                    <a:pt x="12688443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175182" y="6135141"/>
            <a:ext cx="795635" cy="795635"/>
            <a:chOff x="0" y="0"/>
            <a:chExt cx="1060847" cy="10608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0831" cy="1060831"/>
            </a:xfrm>
            <a:custGeom>
              <a:avLst/>
              <a:gdLst/>
              <a:ahLst/>
              <a:cxnLst/>
              <a:rect r="r" b="b" t="t" l="l"/>
              <a:pathLst>
                <a:path h="1060831" w="1060831">
                  <a:moveTo>
                    <a:pt x="0" y="530479"/>
                  </a:moveTo>
                  <a:cubicBezTo>
                    <a:pt x="0" y="237490"/>
                    <a:pt x="237490" y="0"/>
                    <a:pt x="530479" y="0"/>
                  </a:cubicBezTo>
                  <a:cubicBezTo>
                    <a:pt x="823468" y="0"/>
                    <a:pt x="1060831" y="237490"/>
                    <a:pt x="1060831" y="530479"/>
                  </a:cubicBezTo>
                  <a:cubicBezTo>
                    <a:pt x="1060831" y="823468"/>
                    <a:pt x="823341" y="1060831"/>
                    <a:pt x="530479" y="1060831"/>
                  </a:cubicBezTo>
                  <a:cubicBezTo>
                    <a:pt x="237617" y="1060831"/>
                    <a:pt x="0" y="823341"/>
                    <a:pt x="0" y="530479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2413902" y="6373714"/>
            <a:ext cx="318195" cy="318195"/>
          </a:xfrm>
          <a:custGeom>
            <a:avLst/>
            <a:gdLst/>
            <a:ahLst/>
            <a:cxnLst/>
            <a:rect r="r" b="b" t="t" l="l"/>
            <a:pathLst>
              <a:path h="318195" w="318195">
                <a:moveTo>
                  <a:pt x="0" y="0"/>
                </a:moveTo>
                <a:lnTo>
                  <a:pt x="318196" y="0"/>
                </a:lnTo>
                <a:lnTo>
                  <a:pt x="318196" y="318195"/>
                </a:lnTo>
                <a:lnTo>
                  <a:pt x="0" y="318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882" r="0" b="-5882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080027" y="7176939"/>
            <a:ext cx="3536602" cy="46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Ruang Lingkup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80027" y="7711380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b="true" sz="2062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Tools: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Python + NumPy + SciPy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80027" y="8228409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b="true" sz="2062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Studi Kasus: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Jaringan pertemanan 8 mahasiswa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80027" y="8745439"/>
            <a:ext cx="8985945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b="true" sz="2062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Metode: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Implementasi manual + library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052465"/>
            <a:chOff x="0" y="0"/>
            <a:chExt cx="24384000" cy="40699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4069969"/>
            </a:xfrm>
            <a:custGeom>
              <a:avLst/>
              <a:gdLst/>
              <a:ahLst/>
              <a:cxnLst/>
              <a:rect r="r" b="b" t="t" l="l"/>
              <a:pathLst>
                <a:path h="406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69969"/>
                  </a:lnTo>
                  <a:lnTo>
                    <a:pt x="0" y="406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9560" r="0" b="-24956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4571" y="3888730"/>
            <a:ext cx="6672262" cy="70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Bagian 1: Operasi Matriks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9809" y="4957019"/>
            <a:ext cx="16588382" cy="3255466"/>
            <a:chOff x="0" y="0"/>
            <a:chExt cx="22117843" cy="43406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22105113" cy="4327906"/>
            </a:xfrm>
            <a:custGeom>
              <a:avLst/>
              <a:gdLst/>
              <a:ahLst/>
              <a:cxnLst/>
              <a:rect r="r" b="b" t="t" l="l"/>
              <a:pathLst>
                <a:path h="4327906" w="22105113">
                  <a:moveTo>
                    <a:pt x="0" y="136779"/>
                  </a:moveTo>
                  <a:cubicBezTo>
                    <a:pt x="0" y="61214"/>
                    <a:pt x="61341" y="0"/>
                    <a:pt x="137033" y="0"/>
                  </a:cubicBezTo>
                  <a:lnTo>
                    <a:pt x="21968079" y="0"/>
                  </a:lnTo>
                  <a:cubicBezTo>
                    <a:pt x="22043771" y="0"/>
                    <a:pt x="22105113" y="61214"/>
                    <a:pt x="22105113" y="136779"/>
                  </a:cubicBezTo>
                  <a:lnTo>
                    <a:pt x="22105113" y="4191127"/>
                  </a:lnTo>
                  <a:cubicBezTo>
                    <a:pt x="22105113" y="4266692"/>
                    <a:pt x="22043771" y="4327906"/>
                    <a:pt x="21968079" y="4327906"/>
                  </a:cubicBezTo>
                  <a:lnTo>
                    <a:pt x="137033" y="4327906"/>
                  </a:lnTo>
                  <a:cubicBezTo>
                    <a:pt x="61341" y="4327906"/>
                    <a:pt x="0" y="4266692"/>
                    <a:pt x="0" y="4191127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17813" cy="4340606"/>
            </a:xfrm>
            <a:custGeom>
              <a:avLst/>
              <a:gdLst/>
              <a:ahLst/>
              <a:cxnLst/>
              <a:rect r="r" b="b" t="t" l="l"/>
              <a:pathLst>
                <a:path h="4340606" w="22117813">
                  <a:moveTo>
                    <a:pt x="0" y="143129"/>
                  </a:moveTo>
                  <a:cubicBezTo>
                    <a:pt x="0" y="64008"/>
                    <a:pt x="64262" y="0"/>
                    <a:pt x="143383" y="0"/>
                  </a:cubicBezTo>
                  <a:lnTo>
                    <a:pt x="21974429" y="0"/>
                  </a:lnTo>
                  <a:lnTo>
                    <a:pt x="21974429" y="6350"/>
                  </a:lnTo>
                  <a:lnTo>
                    <a:pt x="21974429" y="0"/>
                  </a:lnTo>
                  <a:cubicBezTo>
                    <a:pt x="22053677" y="0"/>
                    <a:pt x="22117813" y="64008"/>
                    <a:pt x="22117813" y="143129"/>
                  </a:cubicBezTo>
                  <a:lnTo>
                    <a:pt x="22111463" y="143129"/>
                  </a:lnTo>
                  <a:lnTo>
                    <a:pt x="22117813" y="143129"/>
                  </a:lnTo>
                  <a:lnTo>
                    <a:pt x="22117813" y="4197477"/>
                  </a:lnTo>
                  <a:lnTo>
                    <a:pt x="22111463" y="4197477"/>
                  </a:lnTo>
                  <a:lnTo>
                    <a:pt x="22117813" y="4197477"/>
                  </a:lnTo>
                  <a:cubicBezTo>
                    <a:pt x="22117813" y="4276471"/>
                    <a:pt x="22053550" y="4340606"/>
                    <a:pt x="21974429" y="4340606"/>
                  </a:cubicBezTo>
                  <a:lnTo>
                    <a:pt x="21974429" y="4334256"/>
                  </a:lnTo>
                  <a:lnTo>
                    <a:pt x="21974429" y="4340606"/>
                  </a:lnTo>
                  <a:lnTo>
                    <a:pt x="143383" y="4340606"/>
                  </a:lnTo>
                  <a:lnTo>
                    <a:pt x="143383" y="4334256"/>
                  </a:lnTo>
                  <a:lnTo>
                    <a:pt x="143383" y="4340606"/>
                  </a:lnTo>
                  <a:cubicBezTo>
                    <a:pt x="64262" y="4340606"/>
                    <a:pt x="0" y="4276598"/>
                    <a:pt x="0" y="4197477"/>
                  </a:cubicBezTo>
                  <a:lnTo>
                    <a:pt x="0" y="143129"/>
                  </a:lnTo>
                  <a:lnTo>
                    <a:pt x="6350" y="143129"/>
                  </a:lnTo>
                  <a:lnTo>
                    <a:pt x="0" y="143129"/>
                  </a:lnTo>
                  <a:moveTo>
                    <a:pt x="12700" y="143129"/>
                  </a:moveTo>
                  <a:lnTo>
                    <a:pt x="12700" y="4197477"/>
                  </a:lnTo>
                  <a:lnTo>
                    <a:pt x="6350" y="4197477"/>
                  </a:lnTo>
                  <a:lnTo>
                    <a:pt x="12700" y="4197477"/>
                  </a:lnTo>
                  <a:cubicBezTo>
                    <a:pt x="12700" y="4269486"/>
                    <a:pt x="71247" y="4327906"/>
                    <a:pt x="143383" y="4327906"/>
                  </a:cubicBezTo>
                  <a:lnTo>
                    <a:pt x="21974429" y="4327906"/>
                  </a:lnTo>
                  <a:cubicBezTo>
                    <a:pt x="22046692" y="4327906"/>
                    <a:pt x="22105113" y="4269486"/>
                    <a:pt x="22105113" y="4197477"/>
                  </a:cubicBezTo>
                  <a:lnTo>
                    <a:pt x="22105113" y="143129"/>
                  </a:lnTo>
                  <a:cubicBezTo>
                    <a:pt x="22105113" y="71120"/>
                    <a:pt x="22046566" y="12700"/>
                    <a:pt x="21974429" y="12700"/>
                  </a:cubicBezTo>
                  <a:lnTo>
                    <a:pt x="143383" y="12700"/>
                  </a:lnTo>
                  <a:lnTo>
                    <a:pt x="143383" y="6350"/>
                  </a:lnTo>
                  <a:lnTo>
                    <a:pt x="143383" y="12700"/>
                  </a:lnTo>
                  <a:cubicBezTo>
                    <a:pt x="71247" y="12700"/>
                    <a:pt x="12700" y="71120"/>
                    <a:pt x="12700" y="143129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64096" y="4971306"/>
            <a:ext cx="5519886" cy="3226891"/>
            <a:chOff x="0" y="0"/>
            <a:chExt cx="7359848" cy="43025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59904" cy="4302506"/>
            </a:xfrm>
            <a:custGeom>
              <a:avLst/>
              <a:gdLst/>
              <a:ahLst/>
              <a:cxnLst/>
              <a:rect r="r" b="b" t="t" l="l"/>
              <a:pathLst>
                <a:path h="4302506" w="7359904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7223125" y="0"/>
                  </a:lnTo>
                  <a:cubicBezTo>
                    <a:pt x="7298690" y="0"/>
                    <a:pt x="7359904" y="61214"/>
                    <a:pt x="7359904" y="136779"/>
                  </a:cubicBezTo>
                  <a:lnTo>
                    <a:pt x="7359904" y="4165727"/>
                  </a:lnTo>
                  <a:cubicBezTo>
                    <a:pt x="7359904" y="4241292"/>
                    <a:pt x="7298690" y="4302506"/>
                    <a:pt x="7223125" y="4302506"/>
                  </a:cubicBezTo>
                  <a:lnTo>
                    <a:pt x="136779" y="4302506"/>
                  </a:lnTo>
                  <a:cubicBezTo>
                    <a:pt x="61214" y="4302506"/>
                    <a:pt x="0" y="4241292"/>
                    <a:pt x="0" y="4165727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08174" y="5205859"/>
            <a:ext cx="3255912" cy="41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Implementasi Dasar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8174" y="5692676"/>
            <a:ext cx="4665315" cy="46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Menggunakan NumPy untuk operasi standar: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8174" y="6229796"/>
            <a:ext cx="4665315" cy="46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Penjumlahan, Pengurangan, Perkalian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8174" y="6705897"/>
            <a:ext cx="4665315" cy="46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Determinan, Invers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3982" y="4971306"/>
            <a:ext cx="5519886" cy="3226891"/>
            <a:chOff x="0" y="0"/>
            <a:chExt cx="7359848" cy="43025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59904" cy="4302506"/>
            </a:xfrm>
            <a:custGeom>
              <a:avLst/>
              <a:gdLst/>
              <a:ahLst/>
              <a:cxnLst/>
              <a:rect r="r" b="b" t="t" l="l"/>
              <a:pathLst>
                <a:path h="4302506" w="7359904">
                  <a:moveTo>
                    <a:pt x="0" y="0"/>
                  </a:moveTo>
                  <a:lnTo>
                    <a:pt x="7359904" y="0"/>
                  </a:lnTo>
                  <a:lnTo>
                    <a:pt x="7359904" y="4302506"/>
                  </a:lnTo>
                  <a:lnTo>
                    <a:pt x="0" y="4302506"/>
                  </a:ln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383982" y="4971306"/>
            <a:ext cx="28575" cy="3226891"/>
            <a:chOff x="0" y="0"/>
            <a:chExt cx="38100" cy="43025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" cy="4302506"/>
            </a:xfrm>
            <a:custGeom>
              <a:avLst/>
              <a:gdLst/>
              <a:ahLst/>
              <a:cxnLst/>
              <a:rect r="r" b="b" t="t" l="l"/>
              <a:pathLst>
                <a:path h="430250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283456"/>
                  </a:lnTo>
                  <a:cubicBezTo>
                    <a:pt x="38100" y="4293997"/>
                    <a:pt x="29591" y="4302506"/>
                    <a:pt x="19050" y="4302506"/>
                  </a:cubicBezTo>
                  <a:cubicBezTo>
                    <a:pt x="8509" y="4302506"/>
                    <a:pt x="0" y="4293997"/>
                    <a:pt x="0" y="4283456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994475" y="5205859"/>
            <a:ext cx="3255912" cy="41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Fungsi Manual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4475" y="5692676"/>
            <a:ext cx="4298900" cy="46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Pengembangan algoritma kustom: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94475" y="6229796"/>
            <a:ext cx="4298900" cy="85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Perkalian Matriks:</a:t>
            </a: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Kompleksitas O(m×n×p)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94475" y="7096571"/>
            <a:ext cx="4298900" cy="85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Eliminasi Gauss:</a:t>
            </a: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Dengan partial pivoting untuk stabilitas numerik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064449" y="6265217"/>
            <a:ext cx="639067" cy="639067"/>
            <a:chOff x="0" y="0"/>
            <a:chExt cx="852090" cy="8520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677291" y="0"/>
                  </a:lnTo>
                  <a:cubicBezTo>
                    <a:pt x="752856" y="0"/>
                    <a:pt x="814070" y="61214"/>
                    <a:pt x="814070" y="136779"/>
                  </a:cubicBezTo>
                  <a:lnTo>
                    <a:pt x="814070" y="677291"/>
                  </a:lnTo>
                  <a:cubicBezTo>
                    <a:pt x="814070" y="752856"/>
                    <a:pt x="752856" y="814070"/>
                    <a:pt x="677291" y="814070"/>
                  </a:cubicBezTo>
                  <a:lnTo>
                    <a:pt x="136779" y="814070"/>
                  </a:lnTo>
                  <a:cubicBezTo>
                    <a:pt x="61214" y="813943"/>
                    <a:pt x="0" y="752729"/>
                    <a:pt x="0" y="677291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2043" cy="852170"/>
            </a:xfrm>
            <a:custGeom>
              <a:avLst/>
              <a:gdLst/>
              <a:ahLst/>
              <a:cxnLst/>
              <a:rect r="r" b="b" t="t" l="l"/>
              <a:pathLst>
                <a:path h="852170" w="852043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96341" y="0"/>
                  </a:lnTo>
                  <a:lnTo>
                    <a:pt x="696341" y="19050"/>
                  </a:lnTo>
                  <a:lnTo>
                    <a:pt x="696341" y="0"/>
                  </a:lnTo>
                  <a:cubicBezTo>
                    <a:pt x="782320" y="0"/>
                    <a:pt x="852043" y="69723"/>
                    <a:pt x="852043" y="155829"/>
                  </a:cubicBezTo>
                  <a:lnTo>
                    <a:pt x="832993" y="155829"/>
                  </a:lnTo>
                  <a:lnTo>
                    <a:pt x="852043" y="155829"/>
                  </a:lnTo>
                  <a:lnTo>
                    <a:pt x="852043" y="696341"/>
                  </a:lnTo>
                  <a:lnTo>
                    <a:pt x="832993" y="696341"/>
                  </a:lnTo>
                  <a:lnTo>
                    <a:pt x="852043" y="696341"/>
                  </a:lnTo>
                  <a:cubicBezTo>
                    <a:pt x="852043" y="782447"/>
                    <a:pt x="782320" y="852170"/>
                    <a:pt x="696214" y="852170"/>
                  </a:cubicBezTo>
                  <a:lnTo>
                    <a:pt x="696214" y="833120"/>
                  </a:lnTo>
                  <a:lnTo>
                    <a:pt x="696214" y="852170"/>
                  </a:lnTo>
                  <a:lnTo>
                    <a:pt x="155829" y="852170"/>
                  </a:lnTo>
                  <a:lnTo>
                    <a:pt x="155829" y="833120"/>
                  </a:lnTo>
                  <a:lnTo>
                    <a:pt x="155829" y="852170"/>
                  </a:lnTo>
                  <a:cubicBezTo>
                    <a:pt x="69723" y="852043"/>
                    <a:pt x="0" y="782320"/>
                    <a:pt x="0" y="696341"/>
                  </a:cubicBezTo>
                  <a:lnTo>
                    <a:pt x="0" y="155829"/>
                  </a:lnTo>
                  <a:lnTo>
                    <a:pt x="19050" y="155829"/>
                  </a:lnTo>
                  <a:lnTo>
                    <a:pt x="0" y="155829"/>
                  </a:lnTo>
                  <a:moveTo>
                    <a:pt x="38100" y="155829"/>
                  </a:moveTo>
                  <a:lnTo>
                    <a:pt x="38100" y="696341"/>
                  </a:lnTo>
                  <a:lnTo>
                    <a:pt x="19050" y="696341"/>
                  </a:lnTo>
                  <a:lnTo>
                    <a:pt x="38100" y="696341"/>
                  </a:lnTo>
                  <a:cubicBezTo>
                    <a:pt x="38100" y="761365"/>
                    <a:pt x="90805" y="814070"/>
                    <a:pt x="155829" y="814070"/>
                  </a:cubicBezTo>
                  <a:lnTo>
                    <a:pt x="696341" y="814070"/>
                  </a:lnTo>
                  <a:cubicBezTo>
                    <a:pt x="761365" y="814070"/>
                    <a:pt x="814070" y="761365"/>
                    <a:pt x="814070" y="696341"/>
                  </a:cubicBezTo>
                  <a:lnTo>
                    <a:pt x="814070" y="155829"/>
                  </a:lnTo>
                  <a:cubicBezTo>
                    <a:pt x="813943" y="90805"/>
                    <a:pt x="761238" y="38100"/>
                    <a:pt x="696341" y="38100"/>
                  </a:cubicBezTo>
                  <a:lnTo>
                    <a:pt x="155829" y="38100"/>
                  </a:lnTo>
                  <a:lnTo>
                    <a:pt x="155829" y="19050"/>
                  </a:lnTo>
                  <a:lnTo>
                    <a:pt x="155829" y="38100"/>
                  </a:lnTo>
                  <a:cubicBezTo>
                    <a:pt x="90805" y="38100"/>
                    <a:pt x="38100" y="90805"/>
                    <a:pt x="38100" y="155829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6231285" y="6432054"/>
            <a:ext cx="305246" cy="305246"/>
          </a:xfrm>
          <a:custGeom>
            <a:avLst/>
            <a:gdLst/>
            <a:ahLst/>
            <a:cxnLst/>
            <a:rect r="r" b="b" t="t" l="l"/>
            <a:pathLst>
              <a:path h="305246" w="305246">
                <a:moveTo>
                  <a:pt x="0" y="0"/>
                </a:moveTo>
                <a:lnTo>
                  <a:pt x="305246" y="0"/>
                </a:lnTo>
                <a:lnTo>
                  <a:pt x="305246" y="305246"/>
                </a:lnTo>
                <a:lnTo>
                  <a:pt x="0" y="305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15" t="0" r="-1515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903869" y="4971306"/>
            <a:ext cx="5520035" cy="3226891"/>
            <a:chOff x="0" y="0"/>
            <a:chExt cx="7360047" cy="43025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60031" cy="4302506"/>
            </a:xfrm>
            <a:custGeom>
              <a:avLst/>
              <a:gdLst/>
              <a:ahLst/>
              <a:cxnLst/>
              <a:rect r="r" b="b" t="t" l="l"/>
              <a:pathLst>
                <a:path h="4302506" w="7360031">
                  <a:moveTo>
                    <a:pt x="0" y="0"/>
                  </a:moveTo>
                  <a:lnTo>
                    <a:pt x="7360031" y="0"/>
                  </a:lnTo>
                  <a:lnTo>
                    <a:pt x="7360031" y="4302506"/>
                  </a:lnTo>
                  <a:lnTo>
                    <a:pt x="0" y="4302506"/>
                  </a:ln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903869" y="4971306"/>
            <a:ext cx="28575" cy="3226891"/>
            <a:chOff x="0" y="0"/>
            <a:chExt cx="38100" cy="43025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" cy="4302506"/>
            </a:xfrm>
            <a:custGeom>
              <a:avLst/>
              <a:gdLst/>
              <a:ahLst/>
              <a:cxnLst/>
              <a:rect r="r" b="b" t="t" l="l"/>
              <a:pathLst>
                <a:path h="430250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283456"/>
                  </a:lnTo>
                  <a:cubicBezTo>
                    <a:pt x="38100" y="4293997"/>
                    <a:pt x="29591" y="4302506"/>
                    <a:pt x="19050" y="4302506"/>
                  </a:cubicBezTo>
                  <a:cubicBezTo>
                    <a:pt x="8509" y="4302506"/>
                    <a:pt x="0" y="4293997"/>
                    <a:pt x="0" y="4283456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514361" y="5205859"/>
            <a:ext cx="3255912" cy="41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Hasil Testing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14361" y="5692676"/>
            <a:ext cx="4665464" cy="85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Perkalian Matriks:</a:t>
            </a: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3 test cases (2×2, 3×3, non-square) terverifikasi dengan NumPy.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14361" y="6559451"/>
            <a:ext cx="4665464" cy="85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773" indent="-141387" lvl="1">
              <a:lnSpc>
                <a:spcPts val="3062"/>
              </a:lnSpc>
              <a:buFont typeface="Arial"/>
              <a:buChar char="•"/>
            </a:pPr>
            <a:r>
              <a:rPr lang="en-US" b="true" sz="1874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Eliminasi Gauss:</a:t>
            </a: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3 test cases (SPL 2, 3, 4 variabel) dengan akurasi error &lt; 10⁻¹⁰.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584335" y="6265217"/>
            <a:ext cx="639067" cy="639067"/>
            <a:chOff x="0" y="0"/>
            <a:chExt cx="852090" cy="8520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9050" y="1905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136779"/>
                  </a:moveTo>
                  <a:cubicBezTo>
                    <a:pt x="0" y="61214"/>
                    <a:pt x="61214" y="0"/>
                    <a:pt x="136779" y="0"/>
                  </a:cubicBezTo>
                  <a:lnTo>
                    <a:pt x="677291" y="0"/>
                  </a:lnTo>
                  <a:cubicBezTo>
                    <a:pt x="752856" y="0"/>
                    <a:pt x="814070" y="61214"/>
                    <a:pt x="814070" y="136779"/>
                  </a:cubicBezTo>
                  <a:lnTo>
                    <a:pt x="814070" y="677291"/>
                  </a:lnTo>
                  <a:cubicBezTo>
                    <a:pt x="814070" y="752856"/>
                    <a:pt x="752856" y="814070"/>
                    <a:pt x="677291" y="814070"/>
                  </a:cubicBezTo>
                  <a:lnTo>
                    <a:pt x="136779" y="814070"/>
                  </a:lnTo>
                  <a:cubicBezTo>
                    <a:pt x="61214" y="813943"/>
                    <a:pt x="0" y="752729"/>
                    <a:pt x="0" y="677291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2043" cy="852170"/>
            </a:xfrm>
            <a:custGeom>
              <a:avLst/>
              <a:gdLst/>
              <a:ahLst/>
              <a:cxnLst/>
              <a:rect r="r" b="b" t="t" l="l"/>
              <a:pathLst>
                <a:path h="852170" w="852043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96341" y="0"/>
                  </a:lnTo>
                  <a:lnTo>
                    <a:pt x="696341" y="19050"/>
                  </a:lnTo>
                  <a:lnTo>
                    <a:pt x="696341" y="0"/>
                  </a:lnTo>
                  <a:cubicBezTo>
                    <a:pt x="782320" y="0"/>
                    <a:pt x="852043" y="69723"/>
                    <a:pt x="852043" y="155829"/>
                  </a:cubicBezTo>
                  <a:lnTo>
                    <a:pt x="832993" y="155829"/>
                  </a:lnTo>
                  <a:lnTo>
                    <a:pt x="852043" y="155829"/>
                  </a:lnTo>
                  <a:lnTo>
                    <a:pt x="852043" y="696341"/>
                  </a:lnTo>
                  <a:lnTo>
                    <a:pt x="832993" y="696341"/>
                  </a:lnTo>
                  <a:lnTo>
                    <a:pt x="852043" y="696341"/>
                  </a:lnTo>
                  <a:cubicBezTo>
                    <a:pt x="852043" y="782447"/>
                    <a:pt x="782320" y="852170"/>
                    <a:pt x="696214" y="852170"/>
                  </a:cubicBezTo>
                  <a:lnTo>
                    <a:pt x="696214" y="833120"/>
                  </a:lnTo>
                  <a:lnTo>
                    <a:pt x="696214" y="852170"/>
                  </a:lnTo>
                  <a:lnTo>
                    <a:pt x="155829" y="852170"/>
                  </a:lnTo>
                  <a:lnTo>
                    <a:pt x="155829" y="833120"/>
                  </a:lnTo>
                  <a:lnTo>
                    <a:pt x="155829" y="852170"/>
                  </a:lnTo>
                  <a:cubicBezTo>
                    <a:pt x="69723" y="852043"/>
                    <a:pt x="0" y="782320"/>
                    <a:pt x="0" y="696341"/>
                  </a:cubicBezTo>
                  <a:lnTo>
                    <a:pt x="0" y="155829"/>
                  </a:lnTo>
                  <a:lnTo>
                    <a:pt x="19050" y="155829"/>
                  </a:lnTo>
                  <a:lnTo>
                    <a:pt x="0" y="155829"/>
                  </a:lnTo>
                  <a:moveTo>
                    <a:pt x="38100" y="155829"/>
                  </a:moveTo>
                  <a:lnTo>
                    <a:pt x="38100" y="696341"/>
                  </a:lnTo>
                  <a:lnTo>
                    <a:pt x="19050" y="696341"/>
                  </a:lnTo>
                  <a:lnTo>
                    <a:pt x="38100" y="696341"/>
                  </a:lnTo>
                  <a:cubicBezTo>
                    <a:pt x="38100" y="761365"/>
                    <a:pt x="90805" y="814070"/>
                    <a:pt x="155829" y="814070"/>
                  </a:cubicBezTo>
                  <a:lnTo>
                    <a:pt x="696341" y="814070"/>
                  </a:lnTo>
                  <a:cubicBezTo>
                    <a:pt x="761365" y="814070"/>
                    <a:pt x="814070" y="761365"/>
                    <a:pt x="814070" y="696341"/>
                  </a:cubicBezTo>
                  <a:lnTo>
                    <a:pt x="814070" y="155829"/>
                  </a:lnTo>
                  <a:cubicBezTo>
                    <a:pt x="813943" y="90805"/>
                    <a:pt x="761238" y="38100"/>
                    <a:pt x="696341" y="38100"/>
                  </a:cubicBezTo>
                  <a:lnTo>
                    <a:pt x="155829" y="38100"/>
                  </a:lnTo>
                  <a:lnTo>
                    <a:pt x="155829" y="19050"/>
                  </a:lnTo>
                  <a:lnTo>
                    <a:pt x="155829" y="38100"/>
                  </a:lnTo>
                  <a:cubicBezTo>
                    <a:pt x="90805" y="38100"/>
                    <a:pt x="38100" y="90805"/>
                    <a:pt x="38100" y="155829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1751171" y="6432054"/>
            <a:ext cx="305246" cy="305246"/>
          </a:xfrm>
          <a:custGeom>
            <a:avLst/>
            <a:gdLst/>
            <a:ahLst/>
            <a:cxnLst/>
            <a:rect r="r" b="b" t="t" l="l"/>
            <a:pathLst>
              <a:path h="305246" w="305246">
                <a:moveTo>
                  <a:pt x="0" y="0"/>
                </a:moveTo>
                <a:lnTo>
                  <a:pt x="305247" y="0"/>
                </a:lnTo>
                <a:lnTo>
                  <a:pt x="305247" y="305246"/>
                </a:lnTo>
                <a:lnTo>
                  <a:pt x="0" y="3052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20838" y="8680698"/>
            <a:ext cx="16212591" cy="46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Wawasan Utama:</a:t>
            </a: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Implementasi manual ditemukan </a:t>
            </a:r>
            <a:r>
              <a:rPr lang="en-US" sz="1874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347× lebih lambat</a:t>
            </a: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dari NumPy untuk matriks berukuran 1000×1000, menyoroti efisiensi library teroptimasi.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54571" y="8482310"/>
            <a:ext cx="28575" cy="939850"/>
            <a:chOff x="0" y="0"/>
            <a:chExt cx="38100" cy="125313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100" cy="1253109"/>
            </a:xfrm>
            <a:custGeom>
              <a:avLst/>
              <a:gdLst/>
              <a:ahLst/>
              <a:cxnLst/>
              <a:rect r="r" b="b" t="t" l="l"/>
              <a:pathLst>
                <a:path h="1253109" w="38100">
                  <a:moveTo>
                    <a:pt x="0" y="0"/>
                  </a:moveTo>
                  <a:lnTo>
                    <a:pt x="38100" y="0"/>
                  </a:lnTo>
                  <a:lnTo>
                    <a:pt x="38100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37469" y="707975"/>
            <a:ext cx="8844111" cy="77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Bagian 2: Dekomposisi Matriks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7469" y="5998666"/>
            <a:ext cx="16413064" cy="38100"/>
            <a:chOff x="0" y="0"/>
            <a:chExt cx="21884085" cy="5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84132" cy="50800"/>
            </a:xfrm>
            <a:custGeom>
              <a:avLst/>
              <a:gdLst/>
              <a:ahLst/>
              <a:cxnLst/>
              <a:rect r="r" b="b" t="t" l="l"/>
              <a:pathLst>
                <a:path h="50800" w="2188413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858732" y="0"/>
                  </a:lnTo>
                  <a:cubicBezTo>
                    <a:pt x="21872702" y="0"/>
                    <a:pt x="21884132" y="11430"/>
                    <a:pt x="21884132" y="25400"/>
                  </a:cubicBezTo>
                  <a:cubicBezTo>
                    <a:pt x="21884132" y="39370"/>
                    <a:pt x="21872702" y="50800"/>
                    <a:pt x="2185873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937969" y="5463109"/>
            <a:ext cx="38100" cy="535632"/>
            <a:chOff x="0" y="0"/>
            <a:chExt cx="50800" cy="7141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714121"/>
            </a:xfrm>
            <a:custGeom>
              <a:avLst/>
              <a:gdLst/>
              <a:ahLst/>
              <a:cxnLst/>
              <a:rect r="r" b="b" t="t" l="l"/>
              <a:pathLst>
                <a:path h="714121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88721"/>
                  </a:lnTo>
                  <a:cubicBezTo>
                    <a:pt x="50800" y="702691"/>
                    <a:pt x="39370" y="714121"/>
                    <a:pt x="25400" y="714121"/>
                  </a:cubicBezTo>
                  <a:cubicBezTo>
                    <a:pt x="11430" y="714121"/>
                    <a:pt x="0" y="702691"/>
                    <a:pt x="0" y="68872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856634" y="5898208"/>
            <a:ext cx="200769" cy="200769"/>
            <a:chOff x="0" y="0"/>
            <a:chExt cx="267692" cy="2676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7716" cy="267716"/>
            </a:xfrm>
            <a:custGeom>
              <a:avLst/>
              <a:gdLst/>
              <a:ahLst/>
              <a:cxnLst/>
              <a:rect r="r" b="b" t="t" l="l"/>
              <a:pathLst>
                <a:path h="267716" w="267716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cubicBezTo>
                    <a:pt x="207772" y="0"/>
                    <a:pt x="267716" y="59944"/>
                    <a:pt x="267716" y="133858"/>
                  </a:cubicBezTo>
                  <a:cubicBezTo>
                    <a:pt x="267716" y="207772"/>
                    <a:pt x="207772" y="267716"/>
                    <a:pt x="133858" y="267716"/>
                  </a:cubicBezTo>
                  <a:cubicBezTo>
                    <a:pt x="59944" y="267716"/>
                    <a:pt x="0" y="207772"/>
                    <a:pt x="0" y="133858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2185392" y="1987749"/>
            <a:ext cx="5543104" cy="47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LU Decomposition: A = P × L × 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5210" y="2537669"/>
            <a:ext cx="7503616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Dekomposisi matriks 4×4 menunjukkan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P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(permutasi),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L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(segitiga bawah), dan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U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(segitiga atas). Verifikasi: P×L×U = A dengan error &lt; 10⁻¹⁵.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Aplikasi: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Menyelesaikan Sistem Persamaan Linear (SPL)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Ax = b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secara efisien untuk banyak vektor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b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24801" y="5998592"/>
            <a:ext cx="38100" cy="535632"/>
            <a:chOff x="0" y="0"/>
            <a:chExt cx="50800" cy="7141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714121"/>
            </a:xfrm>
            <a:custGeom>
              <a:avLst/>
              <a:gdLst/>
              <a:ahLst/>
              <a:cxnLst/>
              <a:rect r="r" b="b" t="t" l="l"/>
              <a:pathLst>
                <a:path h="714121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88721"/>
                  </a:lnTo>
                  <a:cubicBezTo>
                    <a:pt x="50800" y="702691"/>
                    <a:pt x="39370" y="714121"/>
                    <a:pt x="25400" y="714121"/>
                  </a:cubicBezTo>
                  <a:cubicBezTo>
                    <a:pt x="11430" y="714121"/>
                    <a:pt x="0" y="702691"/>
                    <a:pt x="0" y="68872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043466" y="5898208"/>
            <a:ext cx="200769" cy="200769"/>
            <a:chOff x="0" y="0"/>
            <a:chExt cx="267692" cy="2676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7716" cy="267716"/>
            </a:xfrm>
            <a:custGeom>
              <a:avLst/>
              <a:gdLst/>
              <a:ahLst/>
              <a:cxnLst/>
              <a:rect r="r" b="b" t="t" l="l"/>
              <a:pathLst>
                <a:path h="267716" w="267716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cubicBezTo>
                    <a:pt x="207772" y="0"/>
                    <a:pt x="267716" y="59944"/>
                    <a:pt x="267716" y="133858"/>
                  </a:cubicBezTo>
                  <a:cubicBezTo>
                    <a:pt x="267716" y="207772"/>
                    <a:pt x="207772" y="267716"/>
                    <a:pt x="133858" y="267716"/>
                  </a:cubicBezTo>
                  <a:cubicBezTo>
                    <a:pt x="59944" y="267716"/>
                    <a:pt x="0" y="207772"/>
                    <a:pt x="0" y="133858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621215" y="6773615"/>
            <a:ext cx="5045423" cy="47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QR Decomposition: B = Q × 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92042" y="7323535"/>
            <a:ext cx="7503765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Matriks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Q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bersifat ortogonal (Qᵀ×Q = I) dan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R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adalah matriks segitiga atas.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Aplikasi: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Penting dalam masalah kuadrat terkecil (Least Squares) untuk meminimalkan ||Bx - c||, dengan solusi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x = R⁻¹ × Qᵀ × c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11782" y="5463109"/>
            <a:ext cx="38100" cy="535632"/>
            <a:chOff x="0" y="0"/>
            <a:chExt cx="50800" cy="7141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714121"/>
            </a:xfrm>
            <a:custGeom>
              <a:avLst/>
              <a:gdLst/>
              <a:ahLst/>
              <a:cxnLst/>
              <a:rect r="r" b="b" t="t" l="l"/>
              <a:pathLst>
                <a:path h="714121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88721"/>
                  </a:lnTo>
                  <a:cubicBezTo>
                    <a:pt x="50800" y="702691"/>
                    <a:pt x="39370" y="714121"/>
                    <a:pt x="25400" y="714121"/>
                  </a:cubicBezTo>
                  <a:cubicBezTo>
                    <a:pt x="11430" y="714121"/>
                    <a:pt x="0" y="702691"/>
                    <a:pt x="0" y="68872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230449" y="5898208"/>
            <a:ext cx="200769" cy="200769"/>
            <a:chOff x="0" y="0"/>
            <a:chExt cx="267692" cy="2676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7716" cy="267716"/>
            </a:xfrm>
            <a:custGeom>
              <a:avLst/>
              <a:gdLst/>
              <a:ahLst/>
              <a:cxnLst/>
              <a:rect r="r" b="b" t="t" l="l"/>
              <a:pathLst>
                <a:path h="267716" w="267716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cubicBezTo>
                    <a:pt x="207772" y="0"/>
                    <a:pt x="267716" y="59944"/>
                    <a:pt x="267716" y="133858"/>
                  </a:cubicBezTo>
                  <a:cubicBezTo>
                    <a:pt x="267716" y="207772"/>
                    <a:pt x="207772" y="267716"/>
                    <a:pt x="133858" y="267716"/>
                  </a:cubicBezTo>
                  <a:cubicBezTo>
                    <a:pt x="59944" y="267716"/>
                    <a:pt x="0" y="207772"/>
                    <a:pt x="0" y="133858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646271" y="1987749"/>
            <a:ext cx="5369272" cy="47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Eigendecomposition: A×v = λ×v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9025" y="2537669"/>
            <a:ext cx="7503765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Untuk matriks 4×4, kami mendapatkan 4 eigenvalues (λ₁=10.64, λ₂=5.14, λ₃=1.86, λ₄=0.37) dan 4 eigenvectors. Eigenvectors ortogonal untuk matriks simetris.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Aplikasi: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Efisien untuk menghitung pangkat matriks tinggi, misal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C¹⁰ = V × D¹⁰ × V⁻¹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48307" y="733574"/>
            <a:ext cx="9580066" cy="61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Bagian 3: Pemodelan Graf Jaringan Sosial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3545" y="1902916"/>
            <a:ext cx="9875639" cy="3970436"/>
            <a:chOff x="0" y="0"/>
            <a:chExt cx="13167518" cy="52939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3154788" cy="5281295"/>
            </a:xfrm>
            <a:custGeom>
              <a:avLst/>
              <a:gdLst/>
              <a:ahLst/>
              <a:cxnLst/>
              <a:rect r="r" b="b" t="t" l="l"/>
              <a:pathLst>
                <a:path h="5281295" w="13154788">
                  <a:moveTo>
                    <a:pt x="0" y="119761"/>
                  </a:moveTo>
                  <a:cubicBezTo>
                    <a:pt x="0" y="53594"/>
                    <a:pt x="53721" y="0"/>
                    <a:pt x="119888" y="0"/>
                  </a:cubicBezTo>
                  <a:lnTo>
                    <a:pt x="13034899" y="0"/>
                  </a:lnTo>
                  <a:cubicBezTo>
                    <a:pt x="13101065" y="0"/>
                    <a:pt x="13154788" y="53594"/>
                    <a:pt x="13154788" y="119761"/>
                  </a:cubicBezTo>
                  <a:lnTo>
                    <a:pt x="13154788" y="5161534"/>
                  </a:lnTo>
                  <a:cubicBezTo>
                    <a:pt x="13154788" y="5227701"/>
                    <a:pt x="13101065" y="5281295"/>
                    <a:pt x="13034899" y="5281295"/>
                  </a:cubicBezTo>
                  <a:lnTo>
                    <a:pt x="119888" y="5281295"/>
                  </a:lnTo>
                  <a:cubicBezTo>
                    <a:pt x="53721" y="5281295"/>
                    <a:pt x="0" y="5227701"/>
                    <a:pt x="0" y="5161534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488" cy="5293995"/>
            </a:xfrm>
            <a:custGeom>
              <a:avLst/>
              <a:gdLst/>
              <a:ahLst/>
              <a:cxnLst/>
              <a:rect r="r" b="b" t="t" l="l"/>
              <a:pathLst>
                <a:path h="5293995" w="13167488">
                  <a:moveTo>
                    <a:pt x="0" y="126111"/>
                  </a:moveTo>
                  <a:cubicBezTo>
                    <a:pt x="0" y="56388"/>
                    <a:pt x="56515" y="0"/>
                    <a:pt x="126238" y="0"/>
                  </a:cubicBezTo>
                  <a:lnTo>
                    <a:pt x="13041249" y="0"/>
                  </a:lnTo>
                  <a:lnTo>
                    <a:pt x="13041249" y="6350"/>
                  </a:lnTo>
                  <a:lnTo>
                    <a:pt x="13041249" y="0"/>
                  </a:lnTo>
                  <a:cubicBezTo>
                    <a:pt x="13110972" y="0"/>
                    <a:pt x="13167488" y="56388"/>
                    <a:pt x="13167488" y="126111"/>
                  </a:cubicBezTo>
                  <a:lnTo>
                    <a:pt x="13161138" y="126111"/>
                  </a:lnTo>
                  <a:lnTo>
                    <a:pt x="13167488" y="126111"/>
                  </a:lnTo>
                  <a:lnTo>
                    <a:pt x="13167488" y="5167884"/>
                  </a:lnTo>
                  <a:lnTo>
                    <a:pt x="13161138" y="5167884"/>
                  </a:lnTo>
                  <a:lnTo>
                    <a:pt x="13167488" y="5167884"/>
                  </a:lnTo>
                  <a:cubicBezTo>
                    <a:pt x="13167488" y="5237480"/>
                    <a:pt x="13110972" y="5293995"/>
                    <a:pt x="13041249" y="5293995"/>
                  </a:cubicBezTo>
                  <a:lnTo>
                    <a:pt x="13041249" y="5287645"/>
                  </a:lnTo>
                  <a:lnTo>
                    <a:pt x="13041249" y="5293995"/>
                  </a:lnTo>
                  <a:lnTo>
                    <a:pt x="126238" y="5293995"/>
                  </a:lnTo>
                  <a:lnTo>
                    <a:pt x="126238" y="5287645"/>
                  </a:lnTo>
                  <a:lnTo>
                    <a:pt x="126238" y="5293995"/>
                  </a:lnTo>
                  <a:cubicBezTo>
                    <a:pt x="56515" y="5293995"/>
                    <a:pt x="0" y="5237607"/>
                    <a:pt x="0" y="5167884"/>
                  </a:cubicBezTo>
                  <a:lnTo>
                    <a:pt x="0" y="126111"/>
                  </a:lnTo>
                  <a:lnTo>
                    <a:pt x="6350" y="126111"/>
                  </a:lnTo>
                  <a:lnTo>
                    <a:pt x="0" y="126111"/>
                  </a:lnTo>
                  <a:moveTo>
                    <a:pt x="12700" y="126111"/>
                  </a:moveTo>
                  <a:lnTo>
                    <a:pt x="12700" y="5167884"/>
                  </a:lnTo>
                  <a:lnTo>
                    <a:pt x="6350" y="5167884"/>
                  </a:lnTo>
                  <a:lnTo>
                    <a:pt x="12700" y="5167884"/>
                  </a:lnTo>
                  <a:cubicBezTo>
                    <a:pt x="12700" y="5230495"/>
                    <a:pt x="63500" y="5281295"/>
                    <a:pt x="126238" y="5281295"/>
                  </a:cubicBezTo>
                  <a:lnTo>
                    <a:pt x="13041249" y="5281295"/>
                  </a:lnTo>
                  <a:cubicBezTo>
                    <a:pt x="13103988" y="5281295"/>
                    <a:pt x="13154788" y="5230495"/>
                    <a:pt x="13154788" y="5167884"/>
                  </a:cubicBezTo>
                  <a:lnTo>
                    <a:pt x="13154788" y="126111"/>
                  </a:lnTo>
                  <a:cubicBezTo>
                    <a:pt x="13154788" y="63500"/>
                    <a:pt x="13103988" y="12700"/>
                    <a:pt x="13041249" y="12700"/>
                  </a:cubicBezTo>
                  <a:lnTo>
                    <a:pt x="126238" y="12700"/>
                  </a:lnTo>
                  <a:lnTo>
                    <a:pt x="126238" y="6350"/>
                  </a:lnTo>
                  <a:lnTo>
                    <a:pt x="126238" y="12700"/>
                  </a:lnTo>
                  <a:cubicBezTo>
                    <a:pt x="63500" y="12700"/>
                    <a:pt x="12700" y="63500"/>
                    <a:pt x="12700" y="12611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71550" y="2111871"/>
            <a:ext cx="4716215" cy="31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Studi Kasus: Jaringan Sosial 8 Mahasiswa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1550" y="2574875"/>
            <a:ext cx="9419630" cy="75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Representasi: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Matriks Adjacency (8×8), dengan '1' untuk koneksi dan '0' tanpa koneksi. Graf tidak berarah (simetris).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50" y="3451473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Statistik Dasar: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50" y="3985915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Total nodes: 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" y="4402783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Total edges: 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50" y="4819650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b="true" sz="16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Density: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625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50% (cukup padat)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550" y="5236517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b="true" sz="16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Mahasiswa Paling Populer: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625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Eve (5 teman)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43545" y="6077545"/>
            <a:ext cx="9875639" cy="3220939"/>
            <a:chOff x="0" y="0"/>
            <a:chExt cx="13167518" cy="42945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3154913" cy="4281932"/>
            </a:xfrm>
            <a:custGeom>
              <a:avLst/>
              <a:gdLst/>
              <a:ahLst/>
              <a:cxnLst/>
              <a:rect r="r" b="b" t="t" l="l"/>
              <a:pathLst>
                <a:path h="4281932" w="13154913">
                  <a:moveTo>
                    <a:pt x="0" y="119761"/>
                  </a:moveTo>
                  <a:cubicBezTo>
                    <a:pt x="0" y="53594"/>
                    <a:pt x="53721" y="0"/>
                    <a:pt x="120015" y="0"/>
                  </a:cubicBezTo>
                  <a:lnTo>
                    <a:pt x="13034899" y="0"/>
                  </a:lnTo>
                  <a:cubicBezTo>
                    <a:pt x="13101193" y="0"/>
                    <a:pt x="13154913" y="53594"/>
                    <a:pt x="13154913" y="119761"/>
                  </a:cubicBezTo>
                  <a:lnTo>
                    <a:pt x="13154913" y="4162171"/>
                  </a:lnTo>
                  <a:cubicBezTo>
                    <a:pt x="13154913" y="4228338"/>
                    <a:pt x="13101193" y="4281932"/>
                    <a:pt x="13034899" y="4281932"/>
                  </a:cubicBezTo>
                  <a:lnTo>
                    <a:pt x="120015" y="4281932"/>
                  </a:lnTo>
                  <a:cubicBezTo>
                    <a:pt x="53721" y="4281932"/>
                    <a:pt x="0" y="4228338"/>
                    <a:pt x="0" y="4162171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67613" cy="4294632"/>
            </a:xfrm>
            <a:custGeom>
              <a:avLst/>
              <a:gdLst/>
              <a:ahLst/>
              <a:cxnLst/>
              <a:rect r="r" b="b" t="t" l="l"/>
              <a:pathLst>
                <a:path h="4294632" w="13167613">
                  <a:moveTo>
                    <a:pt x="0" y="126111"/>
                  </a:moveTo>
                  <a:cubicBezTo>
                    <a:pt x="0" y="56388"/>
                    <a:pt x="56515" y="0"/>
                    <a:pt x="126365" y="0"/>
                  </a:cubicBezTo>
                  <a:lnTo>
                    <a:pt x="13041249" y="0"/>
                  </a:lnTo>
                  <a:lnTo>
                    <a:pt x="13041249" y="6350"/>
                  </a:lnTo>
                  <a:lnTo>
                    <a:pt x="13041249" y="0"/>
                  </a:lnTo>
                  <a:cubicBezTo>
                    <a:pt x="13110972" y="0"/>
                    <a:pt x="13167613" y="56388"/>
                    <a:pt x="13167613" y="126111"/>
                  </a:cubicBezTo>
                  <a:lnTo>
                    <a:pt x="13161263" y="126111"/>
                  </a:lnTo>
                  <a:lnTo>
                    <a:pt x="13167613" y="126111"/>
                  </a:lnTo>
                  <a:lnTo>
                    <a:pt x="13167613" y="4168521"/>
                  </a:lnTo>
                  <a:lnTo>
                    <a:pt x="13161263" y="4168521"/>
                  </a:lnTo>
                  <a:lnTo>
                    <a:pt x="13167613" y="4168521"/>
                  </a:lnTo>
                  <a:cubicBezTo>
                    <a:pt x="13167613" y="4238117"/>
                    <a:pt x="13111099" y="4294632"/>
                    <a:pt x="13041249" y="4294632"/>
                  </a:cubicBezTo>
                  <a:lnTo>
                    <a:pt x="13041249" y="4288282"/>
                  </a:lnTo>
                  <a:lnTo>
                    <a:pt x="13041249" y="4294632"/>
                  </a:lnTo>
                  <a:lnTo>
                    <a:pt x="126365" y="4294632"/>
                  </a:lnTo>
                  <a:lnTo>
                    <a:pt x="126365" y="4288282"/>
                  </a:lnTo>
                  <a:lnTo>
                    <a:pt x="126365" y="4294632"/>
                  </a:lnTo>
                  <a:cubicBezTo>
                    <a:pt x="56642" y="4294632"/>
                    <a:pt x="0" y="4238244"/>
                    <a:pt x="0" y="4168521"/>
                  </a:cubicBezTo>
                  <a:lnTo>
                    <a:pt x="0" y="126111"/>
                  </a:lnTo>
                  <a:lnTo>
                    <a:pt x="6350" y="126111"/>
                  </a:lnTo>
                  <a:lnTo>
                    <a:pt x="0" y="126111"/>
                  </a:lnTo>
                  <a:moveTo>
                    <a:pt x="12700" y="126111"/>
                  </a:moveTo>
                  <a:lnTo>
                    <a:pt x="12700" y="4168521"/>
                  </a:lnTo>
                  <a:lnTo>
                    <a:pt x="6350" y="4168521"/>
                  </a:lnTo>
                  <a:lnTo>
                    <a:pt x="12700" y="4168521"/>
                  </a:lnTo>
                  <a:cubicBezTo>
                    <a:pt x="12700" y="4231132"/>
                    <a:pt x="63500" y="4281932"/>
                    <a:pt x="126365" y="4281932"/>
                  </a:cubicBezTo>
                  <a:lnTo>
                    <a:pt x="13041249" y="4281932"/>
                  </a:lnTo>
                  <a:cubicBezTo>
                    <a:pt x="13103988" y="4281932"/>
                    <a:pt x="13154913" y="4231132"/>
                    <a:pt x="13154913" y="4168521"/>
                  </a:cubicBezTo>
                  <a:lnTo>
                    <a:pt x="13154913" y="126111"/>
                  </a:lnTo>
                  <a:cubicBezTo>
                    <a:pt x="13154913" y="63500"/>
                    <a:pt x="13104113" y="12700"/>
                    <a:pt x="13041249" y="12700"/>
                  </a:cubicBezTo>
                  <a:lnTo>
                    <a:pt x="126365" y="12700"/>
                  </a:lnTo>
                  <a:lnTo>
                    <a:pt x="126365" y="6350"/>
                  </a:lnTo>
                  <a:lnTo>
                    <a:pt x="126365" y="12700"/>
                  </a:lnTo>
                  <a:cubicBezTo>
                    <a:pt x="63500" y="12700"/>
                    <a:pt x="12700" y="63500"/>
                    <a:pt x="12700" y="12611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71550" y="6286500"/>
            <a:ext cx="4073872" cy="31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Weight Matrix - Intensitas Interaksi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" y="6749504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Bobot ditentukan berdasarkan jumlah pesan per minggu antara mahasiswa.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" y="7283946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Temuan: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550" y="7818387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b="true" sz="16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Paling Aktif: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625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Eve (104 pesan/minggu)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1550" y="8235255"/>
            <a:ext cx="9419630" cy="30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b="true" sz="16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Hubungan Terkuat: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Eve </a:t>
            </a:r>
            <a:r>
              <a:rPr lang="en-US" sz="1625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↔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Frank (30 pesan/minggu)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1550" y="8661647"/>
            <a:ext cx="9419630" cy="40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5070" indent="-122535" lvl="1">
              <a:lnSpc>
                <a:spcPts val="2687"/>
              </a:lnSpc>
              <a:buFont typeface="Arial"/>
              <a:buChar char="•"/>
            </a:pPr>
            <a:r>
              <a:rPr lang="en-US" b="true" sz="16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Shortest Path (Dijkstra):</a:t>
            </a: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Alice → Henry melalui Alice → Eve → Henry (jalur tercepat informasi).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91465"/>
            <a:chOff x="0" y="0"/>
            <a:chExt cx="9144000" cy="137219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21969"/>
            </a:xfrm>
            <a:custGeom>
              <a:avLst/>
              <a:gdLst/>
              <a:ahLst/>
              <a:cxnLst/>
              <a:rect r="r" b="b" t="t" l="l"/>
              <a:pathLst>
                <a:path h="13721969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21969"/>
                  </a:lnTo>
                  <a:lnTo>
                    <a:pt x="0" y="13721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7" t="0" r="-6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2349" y="524916"/>
            <a:ext cx="6879877" cy="56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Analisis Sentralitas &amp; Komunitas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061" y="1375916"/>
            <a:ext cx="10073879" cy="4024312"/>
            <a:chOff x="0" y="0"/>
            <a:chExt cx="13431838" cy="5365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13393674" cy="5327650"/>
            </a:xfrm>
            <a:custGeom>
              <a:avLst/>
              <a:gdLst/>
              <a:ahLst/>
              <a:cxnLst/>
              <a:rect r="r" b="b" t="t" l="l"/>
              <a:pathLst>
                <a:path h="5327650" w="13393674">
                  <a:moveTo>
                    <a:pt x="0" y="110871"/>
                  </a:moveTo>
                  <a:cubicBezTo>
                    <a:pt x="0" y="49657"/>
                    <a:pt x="49784" y="0"/>
                    <a:pt x="111252" y="0"/>
                  </a:cubicBezTo>
                  <a:lnTo>
                    <a:pt x="13282422" y="0"/>
                  </a:lnTo>
                  <a:cubicBezTo>
                    <a:pt x="13343889" y="0"/>
                    <a:pt x="13393674" y="49657"/>
                    <a:pt x="13393674" y="110871"/>
                  </a:cubicBezTo>
                  <a:lnTo>
                    <a:pt x="13393674" y="5216779"/>
                  </a:lnTo>
                  <a:cubicBezTo>
                    <a:pt x="13393674" y="5277993"/>
                    <a:pt x="13343889" y="5327650"/>
                    <a:pt x="13282422" y="5327650"/>
                  </a:cubicBezTo>
                  <a:lnTo>
                    <a:pt x="111252" y="5327650"/>
                  </a:lnTo>
                  <a:cubicBezTo>
                    <a:pt x="49784" y="5327650"/>
                    <a:pt x="0" y="5277993"/>
                    <a:pt x="0" y="5216779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31774" cy="5365750"/>
            </a:xfrm>
            <a:custGeom>
              <a:avLst/>
              <a:gdLst/>
              <a:ahLst/>
              <a:cxnLst/>
              <a:rect r="r" b="b" t="t" l="l"/>
              <a:pathLst>
                <a:path h="5365750" w="13431774">
                  <a:moveTo>
                    <a:pt x="0" y="129921"/>
                  </a:moveTo>
                  <a:cubicBezTo>
                    <a:pt x="0" y="58039"/>
                    <a:pt x="58420" y="0"/>
                    <a:pt x="130302" y="0"/>
                  </a:cubicBezTo>
                  <a:lnTo>
                    <a:pt x="13301472" y="0"/>
                  </a:lnTo>
                  <a:lnTo>
                    <a:pt x="13301472" y="19050"/>
                  </a:lnTo>
                  <a:lnTo>
                    <a:pt x="13301472" y="0"/>
                  </a:lnTo>
                  <a:cubicBezTo>
                    <a:pt x="13373354" y="0"/>
                    <a:pt x="13431774" y="58039"/>
                    <a:pt x="13431774" y="129921"/>
                  </a:cubicBezTo>
                  <a:lnTo>
                    <a:pt x="13412724" y="129921"/>
                  </a:lnTo>
                  <a:lnTo>
                    <a:pt x="13431774" y="129921"/>
                  </a:lnTo>
                  <a:lnTo>
                    <a:pt x="13431774" y="5235829"/>
                  </a:lnTo>
                  <a:lnTo>
                    <a:pt x="13412724" y="5235829"/>
                  </a:lnTo>
                  <a:lnTo>
                    <a:pt x="13431774" y="5235829"/>
                  </a:lnTo>
                  <a:cubicBezTo>
                    <a:pt x="13431774" y="5307584"/>
                    <a:pt x="13373354" y="5365750"/>
                    <a:pt x="13301472" y="5365750"/>
                  </a:cubicBezTo>
                  <a:lnTo>
                    <a:pt x="13301472" y="5346700"/>
                  </a:lnTo>
                  <a:lnTo>
                    <a:pt x="13301472" y="5365750"/>
                  </a:lnTo>
                  <a:lnTo>
                    <a:pt x="130302" y="5365750"/>
                  </a:lnTo>
                  <a:lnTo>
                    <a:pt x="130302" y="5346700"/>
                  </a:lnTo>
                  <a:lnTo>
                    <a:pt x="130302" y="5365750"/>
                  </a:lnTo>
                  <a:cubicBezTo>
                    <a:pt x="58420" y="5365750"/>
                    <a:pt x="0" y="5307711"/>
                    <a:pt x="0" y="5235829"/>
                  </a:cubicBezTo>
                  <a:lnTo>
                    <a:pt x="0" y="129921"/>
                  </a:lnTo>
                  <a:lnTo>
                    <a:pt x="19050" y="129921"/>
                  </a:lnTo>
                  <a:lnTo>
                    <a:pt x="0" y="129921"/>
                  </a:lnTo>
                  <a:moveTo>
                    <a:pt x="38100" y="129921"/>
                  </a:moveTo>
                  <a:lnTo>
                    <a:pt x="38100" y="5235829"/>
                  </a:lnTo>
                  <a:lnTo>
                    <a:pt x="19050" y="5235829"/>
                  </a:lnTo>
                  <a:lnTo>
                    <a:pt x="38100" y="5235829"/>
                  </a:lnTo>
                  <a:cubicBezTo>
                    <a:pt x="38100" y="5286375"/>
                    <a:pt x="79375" y="5327650"/>
                    <a:pt x="130302" y="5327650"/>
                  </a:cubicBezTo>
                  <a:lnTo>
                    <a:pt x="13301472" y="5327650"/>
                  </a:lnTo>
                  <a:cubicBezTo>
                    <a:pt x="13352526" y="5327650"/>
                    <a:pt x="13393674" y="5286502"/>
                    <a:pt x="13393674" y="5235829"/>
                  </a:cubicBezTo>
                  <a:lnTo>
                    <a:pt x="13393674" y="129921"/>
                  </a:lnTo>
                  <a:cubicBezTo>
                    <a:pt x="13393674" y="79375"/>
                    <a:pt x="13352399" y="38100"/>
                    <a:pt x="13301472" y="38100"/>
                  </a:cubicBezTo>
                  <a:lnTo>
                    <a:pt x="130302" y="38100"/>
                  </a:lnTo>
                  <a:lnTo>
                    <a:pt x="130302" y="19050"/>
                  </a:lnTo>
                  <a:lnTo>
                    <a:pt x="130302" y="38100"/>
                  </a:lnTo>
                  <a:cubicBezTo>
                    <a:pt x="79375" y="38100"/>
                    <a:pt x="38100" y="79248"/>
                    <a:pt x="38100" y="12992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20924" y="1418779"/>
            <a:ext cx="791319" cy="3938587"/>
            <a:chOff x="0" y="0"/>
            <a:chExt cx="1055092" cy="5251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989" cy="5251450"/>
            </a:xfrm>
            <a:custGeom>
              <a:avLst/>
              <a:gdLst/>
              <a:ahLst/>
              <a:cxnLst/>
              <a:rect r="r" b="b" t="t" l="l"/>
              <a:pathLst>
                <a:path h="5251450" w="1054989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989965" y="0"/>
                  </a:lnTo>
                  <a:cubicBezTo>
                    <a:pt x="1025906" y="0"/>
                    <a:pt x="1054989" y="29083"/>
                    <a:pt x="1054989" y="65024"/>
                  </a:cubicBezTo>
                  <a:lnTo>
                    <a:pt x="1054989" y="5186426"/>
                  </a:lnTo>
                  <a:cubicBezTo>
                    <a:pt x="1054989" y="5222367"/>
                    <a:pt x="1025906" y="5251450"/>
                    <a:pt x="989965" y="5251450"/>
                  </a:cubicBezTo>
                  <a:lnTo>
                    <a:pt x="65024" y="5251450"/>
                  </a:lnTo>
                  <a:cubicBezTo>
                    <a:pt x="29083" y="5251450"/>
                    <a:pt x="0" y="5222367"/>
                    <a:pt x="0" y="5186426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63365" y="3240732"/>
            <a:ext cx="296764" cy="33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0035" y="1607046"/>
            <a:ext cx="2637830" cy="3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Analisis Centrality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0035" y="1998166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Menggunakan Eigenvector Centrality untuk mengidentifikasi individu paling berpengaruh.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0035" y="2433191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Hasil: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0035" y="2868216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b="true" sz="1500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Eve: 0.1809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00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(Tertinggi!)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0035" y="3253829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Grace: 0.1599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0035" y="3639442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Carol: 0.1558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0035" y="4025056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David: 0.1531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0035" y="4460081"/>
            <a:ext cx="8801249" cy="699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Interpretasi: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Eve bukan hanya memiliki banyak teman, tetapi juga terhubung dengan individu-individu berpengaruh lainnya, menunjukkan peran sentral dalam jaringan.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8061" y="5569446"/>
            <a:ext cx="10073879" cy="4192340"/>
            <a:chOff x="0" y="0"/>
            <a:chExt cx="13431838" cy="55897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13393674" cy="5551805"/>
            </a:xfrm>
            <a:custGeom>
              <a:avLst/>
              <a:gdLst/>
              <a:ahLst/>
              <a:cxnLst/>
              <a:rect r="r" b="b" t="t" l="l"/>
              <a:pathLst>
                <a:path h="5551805" w="13393674">
                  <a:moveTo>
                    <a:pt x="0" y="110871"/>
                  </a:moveTo>
                  <a:cubicBezTo>
                    <a:pt x="0" y="49657"/>
                    <a:pt x="49784" y="0"/>
                    <a:pt x="111252" y="0"/>
                  </a:cubicBezTo>
                  <a:lnTo>
                    <a:pt x="13282422" y="0"/>
                  </a:lnTo>
                  <a:cubicBezTo>
                    <a:pt x="13343889" y="0"/>
                    <a:pt x="13393674" y="49657"/>
                    <a:pt x="13393674" y="110871"/>
                  </a:cubicBezTo>
                  <a:lnTo>
                    <a:pt x="13393674" y="5440934"/>
                  </a:lnTo>
                  <a:cubicBezTo>
                    <a:pt x="13393674" y="5502148"/>
                    <a:pt x="13343889" y="5551805"/>
                    <a:pt x="13282422" y="5551805"/>
                  </a:cubicBezTo>
                  <a:lnTo>
                    <a:pt x="111252" y="5551805"/>
                  </a:lnTo>
                  <a:cubicBezTo>
                    <a:pt x="49784" y="5551805"/>
                    <a:pt x="0" y="5502148"/>
                    <a:pt x="0" y="5440934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31774" cy="5589905"/>
            </a:xfrm>
            <a:custGeom>
              <a:avLst/>
              <a:gdLst/>
              <a:ahLst/>
              <a:cxnLst/>
              <a:rect r="r" b="b" t="t" l="l"/>
              <a:pathLst>
                <a:path h="5589905" w="13431774">
                  <a:moveTo>
                    <a:pt x="0" y="129921"/>
                  </a:moveTo>
                  <a:cubicBezTo>
                    <a:pt x="0" y="58039"/>
                    <a:pt x="58420" y="0"/>
                    <a:pt x="130302" y="0"/>
                  </a:cubicBezTo>
                  <a:lnTo>
                    <a:pt x="13301472" y="0"/>
                  </a:lnTo>
                  <a:lnTo>
                    <a:pt x="13301472" y="19050"/>
                  </a:lnTo>
                  <a:lnTo>
                    <a:pt x="13301472" y="0"/>
                  </a:lnTo>
                  <a:cubicBezTo>
                    <a:pt x="13373354" y="0"/>
                    <a:pt x="13431774" y="58039"/>
                    <a:pt x="13431774" y="129921"/>
                  </a:cubicBezTo>
                  <a:lnTo>
                    <a:pt x="13412724" y="129921"/>
                  </a:lnTo>
                  <a:lnTo>
                    <a:pt x="13431774" y="129921"/>
                  </a:lnTo>
                  <a:lnTo>
                    <a:pt x="13431774" y="5459984"/>
                  </a:lnTo>
                  <a:lnTo>
                    <a:pt x="13412724" y="5459984"/>
                  </a:lnTo>
                  <a:lnTo>
                    <a:pt x="13431774" y="5459984"/>
                  </a:lnTo>
                  <a:cubicBezTo>
                    <a:pt x="13431774" y="5531739"/>
                    <a:pt x="13373354" y="5589905"/>
                    <a:pt x="13301472" y="5589905"/>
                  </a:cubicBezTo>
                  <a:lnTo>
                    <a:pt x="13301472" y="5570855"/>
                  </a:lnTo>
                  <a:lnTo>
                    <a:pt x="13301472" y="5589905"/>
                  </a:lnTo>
                  <a:lnTo>
                    <a:pt x="130302" y="5589905"/>
                  </a:lnTo>
                  <a:lnTo>
                    <a:pt x="130302" y="5570855"/>
                  </a:lnTo>
                  <a:lnTo>
                    <a:pt x="130302" y="5589905"/>
                  </a:lnTo>
                  <a:cubicBezTo>
                    <a:pt x="58420" y="5589778"/>
                    <a:pt x="0" y="5531739"/>
                    <a:pt x="0" y="5459984"/>
                  </a:cubicBezTo>
                  <a:lnTo>
                    <a:pt x="0" y="129921"/>
                  </a:lnTo>
                  <a:lnTo>
                    <a:pt x="19050" y="129921"/>
                  </a:lnTo>
                  <a:lnTo>
                    <a:pt x="0" y="129921"/>
                  </a:lnTo>
                  <a:moveTo>
                    <a:pt x="38100" y="129921"/>
                  </a:moveTo>
                  <a:lnTo>
                    <a:pt x="38100" y="5459984"/>
                  </a:lnTo>
                  <a:lnTo>
                    <a:pt x="19050" y="5459984"/>
                  </a:lnTo>
                  <a:lnTo>
                    <a:pt x="38100" y="5459984"/>
                  </a:lnTo>
                  <a:cubicBezTo>
                    <a:pt x="38100" y="5510530"/>
                    <a:pt x="79248" y="5551805"/>
                    <a:pt x="130302" y="5551805"/>
                  </a:cubicBezTo>
                  <a:lnTo>
                    <a:pt x="13301472" y="5551805"/>
                  </a:lnTo>
                  <a:cubicBezTo>
                    <a:pt x="13352526" y="5551805"/>
                    <a:pt x="13393674" y="5510657"/>
                    <a:pt x="13393674" y="5459984"/>
                  </a:cubicBezTo>
                  <a:lnTo>
                    <a:pt x="13393674" y="129921"/>
                  </a:lnTo>
                  <a:cubicBezTo>
                    <a:pt x="13393674" y="79375"/>
                    <a:pt x="13352526" y="38100"/>
                    <a:pt x="13301472" y="38100"/>
                  </a:cubicBezTo>
                  <a:lnTo>
                    <a:pt x="130302" y="38100"/>
                  </a:lnTo>
                  <a:lnTo>
                    <a:pt x="130302" y="19050"/>
                  </a:lnTo>
                  <a:lnTo>
                    <a:pt x="130302" y="38100"/>
                  </a:lnTo>
                  <a:cubicBezTo>
                    <a:pt x="79248" y="38100"/>
                    <a:pt x="38100" y="79248"/>
                    <a:pt x="38100" y="129921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20924" y="5612309"/>
            <a:ext cx="791319" cy="4106615"/>
            <a:chOff x="0" y="0"/>
            <a:chExt cx="1055092" cy="54754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989" cy="5475478"/>
            </a:xfrm>
            <a:custGeom>
              <a:avLst/>
              <a:gdLst/>
              <a:ahLst/>
              <a:cxnLst/>
              <a:rect r="r" b="b" t="t" l="l"/>
              <a:pathLst>
                <a:path h="5475478" w="1054989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989965" y="0"/>
                  </a:lnTo>
                  <a:cubicBezTo>
                    <a:pt x="1025906" y="0"/>
                    <a:pt x="1054989" y="29083"/>
                    <a:pt x="1054989" y="65024"/>
                  </a:cubicBezTo>
                  <a:lnTo>
                    <a:pt x="1054989" y="5410454"/>
                  </a:lnTo>
                  <a:cubicBezTo>
                    <a:pt x="1054989" y="5446395"/>
                    <a:pt x="1025906" y="5475478"/>
                    <a:pt x="989965" y="5475478"/>
                  </a:cubicBezTo>
                  <a:lnTo>
                    <a:pt x="65024" y="5475478"/>
                  </a:lnTo>
                  <a:cubicBezTo>
                    <a:pt x="29083" y="5475478"/>
                    <a:pt x="0" y="5446395"/>
                    <a:pt x="0" y="5410454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63365" y="7518201"/>
            <a:ext cx="296764" cy="33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10035" y="5800576"/>
            <a:ext cx="5107930" cy="33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Deteksi Komunitas (Spectral Clustering)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0035" y="6191696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Menggunakan Laplacian Matrix </a:t>
            </a:r>
            <a:r>
              <a:rPr lang="en-US" sz="150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L = D - A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untuk menemukan struktur komunitas.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10035" y="6626721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Eigenvalues: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10035" y="7061746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λ₁ = 0.00 (graf terhubung)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0035" y="7447360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λ₂ = 0.60 (Konektivitas Aljabar - </a:t>
            </a:r>
            <a:r>
              <a:rPr lang="en-US" sz="1500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kuat!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10035" y="7882384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Fiedler Vector menghasilkan 2 Cluster: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10035" y="8317409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b="true" sz="1500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Cluster 1: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Alice, Bob, Carol, David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10035" y="8703023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b="true" sz="1500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Cluster 2: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Eve, Frank, Grace, Henry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10035" y="9138047"/>
            <a:ext cx="8801249" cy="38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Wawasan:</a:t>
            </a: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Eve bertindak sebagai jembatan penting antar cluster.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33110" y="668685"/>
            <a:ext cx="9679781" cy="140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Visualisasi Jaringan &amp; Insight Utama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33110" y="2375744"/>
            <a:ext cx="96797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Graf jaringan menampilkan hubungan dan dinamika antar mahasiswa.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28348" y="3128516"/>
            <a:ext cx="4724400" cy="2695575"/>
            <a:chOff x="0" y="0"/>
            <a:chExt cx="6299200" cy="3594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286500" cy="3581400"/>
            </a:xfrm>
            <a:custGeom>
              <a:avLst/>
              <a:gdLst/>
              <a:ahLst/>
              <a:cxnLst/>
              <a:rect r="r" b="b" t="t" l="l"/>
              <a:pathLst>
                <a:path h="3581400" w="6286500">
                  <a:moveTo>
                    <a:pt x="0" y="800100"/>
                  </a:moveTo>
                  <a:cubicBezTo>
                    <a:pt x="0" y="358267"/>
                    <a:pt x="358775" y="0"/>
                    <a:pt x="801370" y="0"/>
                  </a:cubicBezTo>
                  <a:lnTo>
                    <a:pt x="5485130" y="0"/>
                  </a:lnTo>
                  <a:cubicBezTo>
                    <a:pt x="5927725" y="0"/>
                    <a:pt x="6286500" y="358267"/>
                    <a:pt x="6286500" y="800100"/>
                  </a:cubicBezTo>
                  <a:lnTo>
                    <a:pt x="6286500" y="2781300"/>
                  </a:lnTo>
                  <a:cubicBezTo>
                    <a:pt x="6286500" y="3223260"/>
                    <a:pt x="5927725" y="3581400"/>
                    <a:pt x="5485130" y="3581400"/>
                  </a:cubicBezTo>
                  <a:lnTo>
                    <a:pt x="801370" y="3581400"/>
                  </a:lnTo>
                  <a:cubicBezTo>
                    <a:pt x="358775" y="3581400"/>
                    <a:pt x="0" y="3223133"/>
                    <a:pt x="0" y="2781300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99200" cy="3594100"/>
            </a:xfrm>
            <a:custGeom>
              <a:avLst/>
              <a:gdLst/>
              <a:ahLst/>
              <a:cxnLst/>
              <a:rect r="r" b="b" t="t" l="l"/>
              <a:pathLst>
                <a:path h="3594100" w="6299200">
                  <a:moveTo>
                    <a:pt x="0" y="806450"/>
                  </a:moveTo>
                  <a:cubicBezTo>
                    <a:pt x="0" y="361061"/>
                    <a:pt x="361696" y="0"/>
                    <a:pt x="807720" y="0"/>
                  </a:cubicBezTo>
                  <a:lnTo>
                    <a:pt x="5491480" y="0"/>
                  </a:lnTo>
                  <a:lnTo>
                    <a:pt x="5491480" y="6350"/>
                  </a:lnTo>
                  <a:lnTo>
                    <a:pt x="5491480" y="0"/>
                  </a:lnTo>
                  <a:cubicBezTo>
                    <a:pt x="5937504" y="0"/>
                    <a:pt x="6299200" y="361061"/>
                    <a:pt x="6299200" y="806450"/>
                  </a:cubicBezTo>
                  <a:lnTo>
                    <a:pt x="6292850" y="806450"/>
                  </a:lnTo>
                  <a:lnTo>
                    <a:pt x="6299200" y="806450"/>
                  </a:lnTo>
                  <a:lnTo>
                    <a:pt x="6299200" y="2787650"/>
                  </a:lnTo>
                  <a:lnTo>
                    <a:pt x="6292850" y="2787650"/>
                  </a:lnTo>
                  <a:lnTo>
                    <a:pt x="6299200" y="2787650"/>
                  </a:lnTo>
                  <a:cubicBezTo>
                    <a:pt x="6299200" y="3233039"/>
                    <a:pt x="5937504" y="3594100"/>
                    <a:pt x="5491480" y="3594100"/>
                  </a:cubicBezTo>
                  <a:lnTo>
                    <a:pt x="5491480" y="3587750"/>
                  </a:lnTo>
                  <a:lnTo>
                    <a:pt x="5491480" y="3594100"/>
                  </a:lnTo>
                  <a:lnTo>
                    <a:pt x="807720" y="3594100"/>
                  </a:lnTo>
                  <a:lnTo>
                    <a:pt x="807720" y="3587750"/>
                  </a:lnTo>
                  <a:lnTo>
                    <a:pt x="807720" y="3594100"/>
                  </a:lnTo>
                  <a:cubicBezTo>
                    <a:pt x="361696" y="3594100"/>
                    <a:pt x="0" y="3233039"/>
                    <a:pt x="0" y="2787650"/>
                  </a:cubicBezTo>
                  <a:lnTo>
                    <a:pt x="0" y="806450"/>
                  </a:lnTo>
                  <a:lnTo>
                    <a:pt x="6350" y="806450"/>
                  </a:lnTo>
                  <a:lnTo>
                    <a:pt x="0" y="806450"/>
                  </a:lnTo>
                  <a:moveTo>
                    <a:pt x="12700" y="806450"/>
                  </a:moveTo>
                  <a:lnTo>
                    <a:pt x="12700" y="2787650"/>
                  </a:lnTo>
                  <a:lnTo>
                    <a:pt x="6350" y="2787650"/>
                  </a:lnTo>
                  <a:lnTo>
                    <a:pt x="12700" y="2787650"/>
                  </a:lnTo>
                  <a:cubicBezTo>
                    <a:pt x="12700" y="3226054"/>
                    <a:pt x="368681" y="3581400"/>
                    <a:pt x="807720" y="3581400"/>
                  </a:cubicBezTo>
                  <a:lnTo>
                    <a:pt x="5491480" y="3581400"/>
                  </a:lnTo>
                  <a:cubicBezTo>
                    <a:pt x="5930519" y="3581400"/>
                    <a:pt x="6286500" y="3226054"/>
                    <a:pt x="6286500" y="2787650"/>
                  </a:cubicBezTo>
                  <a:lnTo>
                    <a:pt x="6286500" y="806450"/>
                  </a:lnTo>
                  <a:cubicBezTo>
                    <a:pt x="6286500" y="368046"/>
                    <a:pt x="5930519" y="12700"/>
                    <a:pt x="5491480" y="12700"/>
                  </a:cubicBezTo>
                  <a:lnTo>
                    <a:pt x="807720" y="12700"/>
                  </a:lnTo>
                  <a:lnTo>
                    <a:pt x="807720" y="6350"/>
                  </a:lnTo>
                  <a:lnTo>
                    <a:pt x="807720" y="12700"/>
                  </a:lnTo>
                  <a:cubicBezTo>
                    <a:pt x="368681" y="12700"/>
                    <a:pt x="12700" y="368046"/>
                    <a:pt x="12700" y="80645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92666" y="3383310"/>
            <a:ext cx="3333899" cy="42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Nodes &amp; Edges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92666" y="3883372"/>
            <a:ext cx="4195762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8 mahasiswa diwakili oleh nodes, sementara edges menunjukkan koneksi. Ketebalan edges disesuaikan dengan bobot (intensitas interaksi).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93254" y="3128516"/>
            <a:ext cx="4724400" cy="2695575"/>
            <a:chOff x="0" y="0"/>
            <a:chExt cx="6299200" cy="3594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286500" cy="3581400"/>
            </a:xfrm>
            <a:custGeom>
              <a:avLst/>
              <a:gdLst/>
              <a:ahLst/>
              <a:cxnLst/>
              <a:rect r="r" b="b" t="t" l="l"/>
              <a:pathLst>
                <a:path h="3581400" w="6286500">
                  <a:moveTo>
                    <a:pt x="0" y="800100"/>
                  </a:moveTo>
                  <a:cubicBezTo>
                    <a:pt x="0" y="358267"/>
                    <a:pt x="358775" y="0"/>
                    <a:pt x="801370" y="0"/>
                  </a:cubicBezTo>
                  <a:lnTo>
                    <a:pt x="5485130" y="0"/>
                  </a:lnTo>
                  <a:cubicBezTo>
                    <a:pt x="5927725" y="0"/>
                    <a:pt x="6286500" y="358267"/>
                    <a:pt x="6286500" y="800100"/>
                  </a:cubicBezTo>
                  <a:lnTo>
                    <a:pt x="6286500" y="2781300"/>
                  </a:lnTo>
                  <a:cubicBezTo>
                    <a:pt x="6286500" y="3223260"/>
                    <a:pt x="5927725" y="3581400"/>
                    <a:pt x="5485130" y="3581400"/>
                  </a:cubicBezTo>
                  <a:lnTo>
                    <a:pt x="801370" y="3581400"/>
                  </a:lnTo>
                  <a:cubicBezTo>
                    <a:pt x="358775" y="3581400"/>
                    <a:pt x="0" y="3223133"/>
                    <a:pt x="0" y="2781300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99200" cy="3594100"/>
            </a:xfrm>
            <a:custGeom>
              <a:avLst/>
              <a:gdLst/>
              <a:ahLst/>
              <a:cxnLst/>
              <a:rect r="r" b="b" t="t" l="l"/>
              <a:pathLst>
                <a:path h="3594100" w="6299200">
                  <a:moveTo>
                    <a:pt x="0" y="806450"/>
                  </a:moveTo>
                  <a:cubicBezTo>
                    <a:pt x="0" y="361061"/>
                    <a:pt x="361696" y="0"/>
                    <a:pt x="807720" y="0"/>
                  </a:cubicBezTo>
                  <a:lnTo>
                    <a:pt x="5491480" y="0"/>
                  </a:lnTo>
                  <a:lnTo>
                    <a:pt x="5491480" y="6350"/>
                  </a:lnTo>
                  <a:lnTo>
                    <a:pt x="5491480" y="0"/>
                  </a:lnTo>
                  <a:cubicBezTo>
                    <a:pt x="5937504" y="0"/>
                    <a:pt x="6299200" y="361061"/>
                    <a:pt x="6299200" y="806450"/>
                  </a:cubicBezTo>
                  <a:lnTo>
                    <a:pt x="6292850" y="806450"/>
                  </a:lnTo>
                  <a:lnTo>
                    <a:pt x="6299200" y="806450"/>
                  </a:lnTo>
                  <a:lnTo>
                    <a:pt x="6299200" y="2787650"/>
                  </a:lnTo>
                  <a:lnTo>
                    <a:pt x="6292850" y="2787650"/>
                  </a:lnTo>
                  <a:lnTo>
                    <a:pt x="6299200" y="2787650"/>
                  </a:lnTo>
                  <a:cubicBezTo>
                    <a:pt x="6299200" y="3233039"/>
                    <a:pt x="5937504" y="3594100"/>
                    <a:pt x="5491480" y="3594100"/>
                  </a:cubicBezTo>
                  <a:lnTo>
                    <a:pt x="5491480" y="3587750"/>
                  </a:lnTo>
                  <a:lnTo>
                    <a:pt x="5491480" y="3594100"/>
                  </a:lnTo>
                  <a:lnTo>
                    <a:pt x="807720" y="3594100"/>
                  </a:lnTo>
                  <a:lnTo>
                    <a:pt x="807720" y="3587750"/>
                  </a:lnTo>
                  <a:lnTo>
                    <a:pt x="807720" y="3594100"/>
                  </a:lnTo>
                  <a:cubicBezTo>
                    <a:pt x="361696" y="3594100"/>
                    <a:pt x="0" y="3233039"/>
                    <a:pt x="0" y="2787650"/>
                  </a:cubicBezTo>
                  <a:lnTo>
                    <a:pt x="0" y="806450"/>
                  </a:lnTo>
                  <a:lnTo>
                    <a:pt x="6350" y="806450"/>
                  </a:lnTo>
                  <a:lnTo>
                    <a:pt x="0" y="806450"/>
                  </a:lnTo>
                  <a:moveTo>
                    <a:pt x="12700" y="806450"/>
                  </a:moveTo>
                  <a:lnTo>
                    <a:pt x="12700" y="2787650"/>
                  </a:lnTo>
                  <a:lnTo>
                    <a:pt x="6350" y="2787650"/>
                  </a:lnTo>
                  <a:lnTo>
                    <a:pt x="12700" y="2787650"/>
                  </a:lnTo>
                  <a:cubicBezTo>
                    <a:pt x="12700" y="3226054"/>
                    <a:pt x="368681" y="3581400"/>
                    <a:pt x="807720" y="3581400"/>
                  </a:cubicBezTo>
                  <a:lnTo>
                    <a:pt x="5491480" y="3581400"/>
                  </a:lnTo>
                  <a:cubicBezTo>
                    <a:pt x="5930519" y="3581400"/>
                    <a:pt x="6286500" y="3226054"/>
                    <a:pt x="6286500" y="2787650"/>
                  </a:cubicBezTo>
                  <a:lnTo>
                    <a:pt x="6286500" y="806450"/>
                  </a:lnTo>
                  <a:cubicBezTo>
                    <a:pt x="6286500" y="368046"/>
                    <a:pt x="5930519" y="12700"/>
                    <a:pt x="5491480" y="12700"/>
                  </a:cubicBezTo>
                  <a:lnTo>
                    <a:pt x="807720" y="12700"/>
                  </a:lnTo>
                  <a:lnTo>
                    <a:pt x="807720" y="6350"/>
                  </a:lnTo>
                  <a:lnTo>
                    <a:pt x="807720" y="12700"/>
                  </a:lnTo>
                  <a:cubicBezTo>
                    <a:pt x="368681" y="12700"/>
                    <a:pt x="12700" y="368046"/>
                    <a:pt x="12700" y="80645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957572" y="3383310"/>
            <a:ext cx="3333899" cy="42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Warna Nodes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57572" y="3883372"/>
            <a:ext cx="4195762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Nodes diwarnai sesuai dengan cluster yang terdeteksi, memudahkan identifikasi kelompok-kelompok dalam jaringan.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28348" y="6064598"/>
            <a:ext cx="9689306" cy="1895475"/>
            <a:chOff x="0" y="0"/>
            <a:chExt cx="12919075" cy="2527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2906375" cy="2514600"/>
            </a:xfrm>
            <a:custGeom>
              <a:avLst/>
              <a:gdLst/>
              <a:ahLst/>
              <a:cxnLst/>
              <a:rect r="r" b="b" t="t" l="l"/>
              <a:pathLst>
                <a:path h="2514600" w="12906375">
                  <a:moveTo>
                    <a:pt x="0" y="800100"/>
                  </a:moveTo>
                  <a:cubicBezTo>
                    <a:pt x="0" y="358267"/>
                    <a:pt x="359664" y="0"/>
                    <a:pt x="803402" y="0"/>
                  </a:cubicBezTo>
                  <a:lnTo>
                    <a:pt x="12102973" y="0"/>
                  </a:lnTo>
                  <a:cubicBezTo>
                    <a:pt x="12546711" y="0"/>
                    <a:pt x="12906375" y="358267"/>
                    <a:pt x="12906375" y="800100"/>
                  </a:cubicBezTo>
                  <a:lnTo>
                    <a:pt x="12906375" y="1714500"/>
                  </a:lnTo>
                  <a:cubicBezTo>
                    <a:pt x="12906375" y="2156460"/>
                    <a:pt x="12546711" y="2514600"/>
                    <a:pt x="12102973" y="2514600"/>
                  </a:cubicBezTo>
                  <a:lnTo>
                    <a:pt x="803402" y="2514600"/>
                  </a:lnTo>
                  <a:cubicBezTo>
                    <a:pt x="359664" y="2514600"/>
                    <a:pt x="0" y="2156333"/>
                    <a:pt x="0" y="1714500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19075" cy="2527300"/>
            </a:xfrm>
            <a:custGeom>
              <a:avLst/>
              <a:gdLst/>
              <a:ahLst/>
              <a:cxnLst/>
              <a:rect r="r" b="b" t="t" l="l"/>
              <a:pathLst>
                <a:path h="2527300" w="12919075">
                  <a:moveTo>
                    <a:pt x="0" y="806450"/>
                  </a:moveTo>
                  <a:cubicBezTo>
                    <a:pt x="0" y="361061"/>
                    <a:pt x="362585" y="0"/>
                    <a:pt x="809752" y="0"/>
                  </a:cubicBezTo>
                  <a:lnTo>
                    <a:pt x="12109323" y="0"/>
                  </a:lnTo>
                  <a:lnTo>
                    <a:pt x="12109323" y="6350"/>
                  </a:lnTo>
                  <a:lnTo>
                    <a:pt x="12109323" y="0"/>
                  </a:lnTo>
                  <a:cubicBezTo>
                    <a:pt x="12556490" y="0"/>
                    <a:pt x="12919075" y="361061"/>
                    <a:pt x="12919075" y="806450"/>
                  </a:cubicBezTo>
                  <a:lnTo>
                    <a:pt x="12912725" y="806450"/>
                  </a:lnTo>
                  <a:lnTo>
                    <a:pt x="12919075" y="806450"/>
                  </a:lnTo>
                  <a:lnTo>
                    <a:pt x="12919075" y="1720850"/>
                  </a:lnTo>
                  <a:lnTo>
                    <a:pt x="12912725" y="1720850"/>
                  </a:lnTo>
                  <a:lnTo>
                    <a:pt x="12919075" y="1720850"/>
                  </a:lnTo>
                  <a:cubicBezTo>
                    <a:pt x="12919075" y="2166239"/>
                    <a:pt x="12556490" y="2527300"/>
                    <a:pt x="12109323" y="2527300"/>
                  </a:cubicBezTo>
                  <a:lnTo>
                    <a:pt x="12109323" y="2520950"/>
                  </a:lnTo>
                  <a:lnTo>
                    <a:pt x="12109323" y="2527300"/>
                  </a:lnTo>
                  <a:lnTo>
                    <a:pt x="809752" y="2527300"/>
                  </a:lnTo>
                  <a:lnTo>
                    <a:pt x="809752" y="2520950"/>
                  </a:lnTo>
                  <a:lnTo>
                    <a:pt x="809752" y="2527300"/>
                  </a:lnTo>
                  <a:cubicBezTo>
                    <a:pt x="362585" y="2527300"/>
                    <a:pt x="0" y="2166239"/>
                    <a:pt x="0" y="1720850"/>
                  </a:cubicBezTo>
                  <a:lnTo>
                    <a:pt x="0" y="806450"/>
                  </a:lnTo>
                  <a:lnTo>
                    <a:pt x="6350" y="806450"/>
                  </a:lnTo>
                  <a:lnTo>
                    <a:pt x="0" y="806450"/>
                  </a:lnTo>
                  <a:moveTo>
                    <a:pt x="12700" y="806450"/>
                  </a:moveTo>
                  <a:lnTo>
                    <a:pt x="12700" y="1720850"/>
                  </a:lnTo>
                  <a:lnTo>
                    <a:pt x="6350" y="1720850"/>
                  </a:lnTo>
                  <a:lnTo>
                    <a:pt x="12700" y="1720850"/>
                  </a:lnTo>
                  <a:cubicBezTo>
                    <a:pt x="12700" y="2159127"/>
                    <a:pt x="369570" y="2514600"/>
                    <a:pt x="809752" y="2514600"/>
                  </a:cubicBezTo>
                  <a:lnTo>
                    <a:pt x="12109323" y="2514600"/>
                  </a:lnTo>
                  <a:cubicBezTo>
                    <a:pt x="12549505" y="2514600"/>
                    <a:pt x="12906375" y="2159127"/>
                    <a:pt x="12906375" y="1720850"/>
                  </a:cubicBezTo>
                  <a:lnTo>
                    <a:pt x="12906375" y="806450"/>
                  </a:lnTo>
                  <a:cubicBezTo>
                    <a:pt x="12906375" y="368046"/>
                    <a:pt x="12549505" y="12700"/>
                    <a:pt x="12109323" y="12700"/>
                  </a:cubicBezTo>
                  <a:lnTo>
                    <a:pt x="809752" y="12700"/>
                  </a:lnTo>
                  <a:lnTo>
                    <a:pt x="809752" y="6350"/>
                  </a:lnTo>
                  <a:lnTo>
                    <a:pt x="809752" y="12700"/>
                  </a:lnTo>
                  <a:cubicBezTo>
                    <a:pt x="369570" y="12700"/>
                    <a:pt x="12700" y="368173"/>
                    <a:pt x="12700" y="80645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7992666" y="6319391"/>
            <a:ext cx="3333899" cy="42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Ukuran Nodes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92666" y="6819454"/>
            <a:ext cx="916066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Ukuran nodes merepresentasikan nilai eigenvector centrality, menunjukkan tingkat pengaruh masing-masing mahasiswa.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08156" y="8441680"/>
            <a:ext cx="930473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Wawasan Visual Kunci:</a:t>
            </a: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Eve jelas terlihat sebagai </a:t>
            </a:r>
            <a:r>
              <a:rPr lang="en-US" sz="1937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pusat sentral</a:t>
            </a: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, dengan dua komunitas yang berbeda dan beberapa koneksi jembatan yang menghubungkannya.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33110" y="8236595"/>
            <a:ext cx="28575" cy="1362670"/>
            <a:chOff x="0" y="0"/>
            <a:chExt cx="38100" cy="18168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" cy="1816862"/>
            </a:xfrm>
            <a:custGeom>
              <a:avLst/>
              <a:gdLst/>
              <a:ahLst/>
              <a:cxnLst/>
              <a:rect r="r" b="b" t="t" l="l"/>
              <a:pathLst>
                <a:path h="1816862" w="38100">
                  <a:moveTo>
                    <a:pt x="0" y="0"/>
                  </a:moveTo>
                  <a:lnTo>
                    <a:pt x="38100" y="0"/>
                  </a:lnTo>
                  <a:lnTo>
                    <a:pt x="38100" y="1816862"/>
                  </a:lnTo>
                  <a:lnTo>
                    <a:pt x="0" y="1816862"/>
                  </a:ln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57709" y="822572"/>
            <a:ext cx="8681145" cy="7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Hasil Analisis &amp; Rekomendasi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709" y="2266652"/>
            <a:ext cx="3934271" cy="47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Analisis Komprehensif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709" y="2939206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1. Struktur Jaringan: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709" y="3623221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Graf terhubung kuat (density 50%), tanpa nodes terisolasi.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709" y="4156770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Terdeteksi 2 komunitas utama yang berbeda.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709" y="4840784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2. Peran Mahasiswa: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709" y="5524797"/>
            <a:ext cx="7852470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b="true" sz="21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Eve:</a:t>
            </a: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Berperan sebagai </a:t>
            </a:r>
            <a:r>
              <a:rPr lang="en-US" sz="2125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Hub &amp; Bridge</a:t>
            </a: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ideal untuk koordinasi.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709" y="6058346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b="true" sz="2125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Alice &amp; Henry:</a:t>
            </a: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Lebih ke periferal, butuh dorongan interaksi.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709" y="6742360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3. Dinamika Interaksi: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709" y="7426375"/>
            <a:ext cx="7852470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Komunikasi sangat aktif (total 498 pesan/minggu).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709" y="7959924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Distribusi interaksi tidak merata (Eve: 104, Henry: 35).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7346" y="2266652"/>
            <a:ext cx="3670101" cy="47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Rekomendasi Praktis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7346" y="2939206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Untuk Penyebaran Informasi: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87346" y="3623221"/>
            <a:ext cx="7852470" cy="95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Manfaatkan Eve sebagai titik awal karena sentralitasnya yang tinggi.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87346" y="4594622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Informasi akan menyebar cepat ke seluruh jaringan.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7346" y="5278636"/>
            <a:ext cx="7852470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Untuk Pembentukan Tim: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7346" y="5962650"/>
            <a:ext cx="7852470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Campur anggota dari kedua cluster untuk diversitas ide.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87346" y="6496199"/>
            <a:ext cx="7852470" cy="95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Pastikan setiap tim memiliki minimal 1 mahasiswa dengan sentralitas tinggi.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87346" y="7618065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Untuk Meningkatkan Kohesivitas: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87346" y="8302079"/>
            <a:ext cx="7852470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Dorong interaksi antara Alice dan Henry (saat ini tidak terhubung).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87346" y="8835629"/>
            <a:ext cx="7852470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Perkuat koneksi antar cluster untuk integrasi yang lebih baik.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770585"/>
            <a:chOff x="0" y="0"/>
            <a:chExt cx="24384000" cy="36941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3694176"/>
            </a:xfrm>
            <a:custGeom>
              <a:avLst/>
              <a:gdLst/>
              <a:ahLst/>
              <a:cxnLst/>
              <a:rect r="r" b="b" t="t" l="l"/>
              <a:pathLst>
                <a:path h="36941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694176"/>
                  </a:lnTo>
                  <a:lnTo>
                    <a:pt x="0" y="3694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80032" r="0" b="-28003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5692" y="3360985"/>
            <a:ext cx="6714381" cy="63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Pembelajaran &amp; Kesimpulan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0930" y="4323309"/>
            <a:ext cx="5440561" cy="674340"/>
            <a:chOff x="0" y="0"/>
            <a:chExt cx="7254082" cy="899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7241413" cy="886460"/>
            </a:xfrm>
            <a:custGeom>
              <a:avLst/>
              <a:gdLst/>
              <a:ahLst/>
              <a:cxnLst/>
              <a:rect r="r" b="b" t="t" l="l"/>
              <a:pathLst>
                <a:path h="886460" w="7241413">
                  <a:moveTo>
                    <a:pt x="0" y="443230"/>
                  </a:moveTo>
                  <a:cubicBezTo>
                    <a:pt x="0" y="198374"/>
                    <a:pt x="200914" y="0"/>
                    <a:pt x="448818" y="0"/>
                  </a:cubicBezTo>
                  <a:lnTo>
                    <a:pt x="6792595" y="0"/>
                  </a:lnTo>
                  <a:cubicBezTo>
                    <a:pt x="7040499" y="0"/>
                    <a:pt x="7241413" y="198374"/>
                    <a:pt x="7241413" y="443230"/>
                  </a:cubicBezTo>
                  <a:cubicBezTo>
                    <a:pt x="7241413" y="688086"/>
                    <a:pt x="7040499" y="886460"/>
                    <a:pt x="6792595" y="886460"/>
                  </a:cubicBezTo>
                  <a:lnTo>
                    <a:pt x="448818" y="886460"/>
                  </a:lnTo>
                  <a:cubicBezTo>
                    <a:pt x="200914" y="886460"/>
                    <a:pt x="0" y="687959"/>
                    <a:pt x="0" y="443230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4113" cy="899160"/>
            </a:xfrm>
            <a:custGeom>
              <a:avLst/>
              <a:gdLst/>
              <a:ahLst/>
              <a:cxnLst/>
              <a:rect r="r" b="b" t="t" l="l"/>
              <a:pathLst>
                <a:path h="899160" w="7254113">
                  <a:moveTo>
                    <a:pt x="0" y="449580"/>
                  </a:moveTo>
                  <a:cubicBezTo>
                    <a:pt x="0" y="201168"/>
                    <a:pt x="203835" y="0"/>
                    <a:pt x="455168" y="0"/>
                  </a:cubicBezTo>
                  <a:lnTo>
                    <a:pt x="6798945" y="0"/>
                  </a:lnTo>
                  <a:lnTo>
                    <a:pt x="6798945" y="6350"/>
                  </a:lnTo>
                  <a:lnTo>
                    <a:pt x="6798945" y="0"/>
                  </a:lnTo>
                  <a:cubicBezTo>
                    <a:pt x="7050277" y="0"/>
                    <a:pt x="7254113" y="201168"/>
                    <a:pt x="7254113" y="449580"/>
                  </a:cubicBezTo>
                  <a:lnTo>
                    <a:pt x="7247763" y="449580"/>
                  </a:lnTo>
                  <a:lnTo>
                    <a:pt x="7254113" y="449580"/>
                  </a:lnTo>
                  <a:lnTo>
                    <a:pt x="7247763" y="449580"/>
                  </a:lnTo>
                  <a:lnTo>
                    <a:pt x="7254113" y="449580"/>
                  </a:lnTo>
                  <a:cubicBezTo>
                    <a:pt x="7254113" y="697992"/>
                    <a:pt x="7050277" y="899160"/>
                    <a:pt x="6798945" y="899160"/>
                  </a:cubicBezTo>
                  <a:lnTo>
                    <a:pt x="6798945" y="892810"/>
                  </a:lnTo>
                  <a:lnTo>
                    <a:pt x="6798945" y="899160"/>
                  </a:lnTo>
                  <a:lnTo>
                    <a:pt x="455168" y="899160"/>
                  </a:lnTo>
                  <a:lnTo>
                    <a:pt x="455168" y="892810"/>
                  </a:lnTo>
                  <a:lnTo>
                    <a:pt x="455168" y="899160"/>
                  </a:lnTo>
                  <a:cubicBezTo>
                    <a:pt x="203835" y="899160"/>
                    <a:pt x="0" y="697865"/>
                    <a:pt x="0" y="449580"/>
                  </a:cubicBezTo>
                  <a:lnTo>
                    <a:pt x="6350" y="449580"/>
                  </a:lnTo>
                  <a:lnTo>
                    <a:pt x="0" y="449580"/>
                  </a:lnTo>
                  <a:moveTo>
                    <a:pt x="12700" y="449580"/>
                  </a:moveTo>
                  <a:lnTo>
                    <a:pt x="6350" y="449580"/>
                  </a:lnTo>
                  <a:lnTo>
                    <a:pt x="12700" y="449580"/>
                  </a:lnTo>
                  <a:cubicBezTo>
                    <a:pt x="12700" y="690753"/>
                    <a:pt x="210693" y="886460"/>
                    <a:pt x="455168" y="886460"/>
                  </a:cubicBezTo>
                  <a:lnTo>
                    <a:pt x="6798945" y="886460"/>
                  </a:lnTo>
                  <a:cubicBezTo>
                    <a:pt x="7043420" y="886460"/>
                    <a:pt x="7241413" y="690753"/>
                    <a:pt x="7241413" y="449580"/>
                  </a:cubicBezTo>
                  <a:cubicBezTo>
                    <a:pt x="7241413" y="208407"/>
                    <a:pt x="7043420" y="12700"/>
                    <a:pt x="6798945" y="12700"/>
                  </a:cubicBezTo>
                  <a:lnTo>
                    <a:pt x="455168" y="12700"/>
                  </a:lnTo>
                  <a:lnTo>
                    <a:pt x="455168" y="6350"/>
                  </a:lnTo>
                  <a:lnTo>
                    <a:pt x="455168" y="12700"/>
                  </a:lnTo>
                  <a:cubicBezTo>
                    <a:pt x="210693" y="12700"/>
                    <a:pt x="12700" y="208407"/>
                    <a:pt x="12700" y="44958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3324969" y="4494162"/>
            <a:ext cx="332334" cy="332334"/>
          </a:xfrm>
          <a:custGeom>
            <a:avLst/>
            <a:gdLst/>
            <a:ahLst/>
            <a:cxnLst/>
            <a:rect r="r" b="b" t="t" l="l"/>
            <a:pathLst>
              <a:path h="332334" w="332334">
                <a:moveTo>
                  <a:pt x="0" y="0"/>
                </a:moveTo>
                <a:lnTo>
                  <a:pt x="332333" y="0"/>
                </a:lnTo>
                <a:lnTo>
                  <a:pt x="332333" y="332334"/>
                </a:lnTo>
                <a:lnTo>
                  <a:pt x="0" y="332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8" t="0" r="-142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7297" y="5204966"/>
            <a:ext cx="2955280" cy="37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Pembelajaran Teknis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7297" y="5650111"/>
            <a:ext cx="4987826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Matriks adalah alat yang kuat untuk merepresentasikan relasi kompleks.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297" y="6436667"/>
            <a:ext cx="4987826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Dekomposisi matriks membuka berbagai aplikasi komputasi.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7297" y="7223224"/>
            <a:ext cx="4987826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Teori Graf + Aljabar Linear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= Kombinasi yang sangat kuat.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23571" y="4323309"/>
            <a:ext cx="5440710" cy="674340"/>
            <a:chOff x="0" y="0"/>
            <a:chExt cx="7254280" cy="899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241667" cy="886460"/>
            </a:xfrm>
            <a:custGeom>
              <a:avLst/>
              <a:gdLst/>
              <a:ahLst/>
              <a:cxnLst/>
              <a:rect r="r" b="b" t="t" l="l"/>
              <a:pathLst>
                <a:path h="886460" w="7241667">
                  <a:moveTo>
                    <a:pt x="0" y="443230"/>
                  </a:moveTo>
                  <a:cubicBezTo>
                    <a:pt x="0" y="198374"/>
                    <a:pt x="200914" y="0"/>
                    <a:pt x="448818" y="0"/>
                  </a:cubicBezTo>
                  <a:lnTo>
                    <a:pt x="6792849" y="0"/>
                  </a:lnTo>
                  <a:cubicBezTo>
                    <a:pt x="7040753" y="0"/>
                    <a:pt x="7241667" y="198374"/>
                    <a:pt x="7241667" y="443230"/>
                  </a:cubicBezTo>
                  <a:cubicBezTo>
                    <a:pt x="7241667" y="688086"/>
                    <a:pt x="7040753" y="886460"/>
                    <a:pt x="6792849" y="886460"/>
                  </a:cubicBezTo>
                  <a:lnTo>
                    <a:pt x="448818" y="886460"/>
                  </a:lnTo>
                  <a:cubicBezTo>
                    <a:pt x="200914" y="886460"/>
                    <a:pt x="0" y="687959"/>
                    <a:pt x="0" y="443230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54367" cy="899160"/>
            </a:xfrm>
            <a:custGeom>
              <a:avLst/>
              <a:gdLst/>
              <a:ahLst/>
              <a:cxnLst/>
              <a:rect r="r" b="b" t="t" l="l"/>
              <a:pathLst>
                <a:path h="899160" w="7254367">
                  <a:moveTo>
                    <a:pt x="0" y="449580"/>
                  </a:moveTo>
                  <a:cubicBezTo>
                    <a:pt x="0" y="201168"/>
                    <a:pt x="203835" y="0"/>
                    <a:pt x="455168" y="0"/>
                  </a:cubicBezTo>
                  <a:lnTo>
                    <a:pt x="6799199" y="0"/>
                  </a:lnTo>
                  <a:lnTo>
                    <a:pt x="6799199" y="6350"/>
                  </a:lnTo>
                  <a:lnTo>
                    <a:pt x="6799199" y="0"/>
                  </a:lnTo>
                  <a:cubicBezTo>
                    <a:pt x="7050532" y="0"/>
                    <a:pt x="7254367" y="201168"/>
                    <a:pt x="7254367" y="449580"/>
                  </a:cubicBezTo>
                  <a:lnTo>
                    <a:pt x="7248017" y="449580"/>
                  </a:lnTo>
                  <a:lnTo>
                    <a:pt x="7254367" y="449580"/>
                  </a:lnTo>
                  <a:lnTo>
                    <a:pt x="7248017" y="449580"/>
                  </a:lnTo>
                  <a:lnTo>
                    <a:pt x="7254367" y="449580"/>
                  </a:lnTo>
                  <a:cubicBezTo>
                    <a:pt x="7254367" y="697992"/>
                    <a:pt x="7050532" y="899160"/>
                    <a:pt x="6799199" y="899160"/>
                  </a:cubicBezTo>
                  <a:lnTo>
                    <a:pt x="6799199" y="892810"/>
                  </a:lnTo>
                  <a:lnTo>
                    <a:pt x="6799199" y="899160"/>
                  </a:lnTo>
                  <a:lnTo>
                    <a:pt x="455168" y="899160"/>
                  </a:lnTo>
                  <a:lnTo>
                    <a:pt x="455168" y="892810"/>
                  </a:lnTo>
                  <a:lnTo>
                    <a:pt x="455168" y="899160"/>
                  </a:lnTo>
                  <a:cubicBezTo>
                    <a:pt x="203835" y="899160"/>
                    <a:pt x="0" y="697865"/>
                    <a:pt x="0" y="449580"/>
                  </a:cubicBezTo>
                  <a:lnTo>
                    <a:pt x="6350" y="449580"/>
                  </a:lnTo>
                  <a:lnTo>
                    <a:pt x="0" y="449580"/>
                  </a:lnTo>
                  <a:moveTo>
                    <a:pt x="12700" y="449580"/>
                  </a:moveTo>
                  <a:lnTo>
                    <a:pt x="6350" y="449580"/>
                  </a:lnTo>
                  <a:lnTo>
                    <a:pt x="12700" y="449580"/>
                  </a:lnTo>
                  <a:cubicBezTo>
                    <a:pt x="12700" y="690753"/>
                    <a:pt x="210693" y="886460"/>
                    <a:pt x="455168" y="886460"/>
                  </a:cubicBezTo>
                  <a:lnTo>
                    <a:pt x="6799199" y="886460"/>
                  </a:lnTo>
                  <a:cubicBezTo>
                    <a:pt x="7043674" y="886460"/>
                    <a:pt x="7241667" y="690753"/>
                    <a:pt x="7241667" y="449580"/>
                  </a:cubicBezTo>
                  <a:cubicBezTo>
                    <a:pt x="7241667" y="208407"/>
                    <a:pt x="7043547" y="12700"/>
                    <a:pt x="6799199" y="12700"/>
                  </a:cubicBezTo>
                  <a:lnTo>
                    <a:pt x="455168" y="12700"/>
                  </a:lnTo>
                  <a:lnTo>
                    <a:pt x="455168" y="6350"/>
                  </a:lnTo>
                  <a:lnTo>
                    <a:pt x="455168" y="12700"/>
                  </a:lnTo>
                  <a:cubicBezTo>
                    <a:pt x="210693" y="12700"/>
                    <a:pt x="12700" y="208407"/>
                    <a:pt x="12700" y="44958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8977759" y="4494162"/>
            <a:ext cx="332334" cy="332334"/>
          </a:xfrm>
          <a:custGeom>
            <a:avLst/>
            <a:gdLst/>
            <a:ahLst/>
            <a:cxnLst/>
            <a:rect r="r" b="b" t="t" l="l"/>
            <a:pathLst>
              <a:path h="332334" w="332334">
                <a:moveTo>
                  <a:pt x="0" y="0"/>
                </a:moveTo>
                <a:lnTo>
                  <a:pt x="332333" y="0"/>
                </a:lnTo>
                <a:lnTo>
                  <a:pt x="332333" y="332334"/>
                </a:lnTo>
                <a:lnTo>
                  <a:pt x="0" y="332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14" t="0" r="-5714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649939" y="5204966"/>
            <a:ext cx="3093988" cy="37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Pembelajaran Analitis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49939" y="5650111"/>
            <a:ext cx="4987975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Berbagai perspektif (degree, eigenvector, closeness) memberikan gambaran lengkap.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49939" y="6436667"/>
            <a:ext cx="4987975" cy="42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Metode spektral efektif untuk deteksi komunitas.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49939" y="6868716"/>
            <a:ext cx="4987975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Operasi matriks memungkinkan analisis yang </a:t>
            </a:r>
            <a:r>
              <a:rPr lang="en-US" sz="1687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terukur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76360" y="4323309"/>
            <a:ext cx="5440710" cy="674340"/>
            <a:chOff x="0" y="0"/>
            <a:chExt cx="7254280" cy="899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7241667" cy="886460"/>
            </a:xfrm>
            <a:custGeom>
              <a:avLst/>
              <a:gdLst/>
              <a:ahLst/>
              <a:cxnLst/>
              <a:rect r="r" b="b" t="t" l="l"/>
              <a:pathLst>
                <a:path h="886460" w="7241667">
                  <a:moveTo>
                    <a:pt x="0" y="443230"/>
                  </a:moveTo>
                  <a:cubicBezTo>
                    <a:pt x="0" y="198374"/>
                    <a:pt x="200914" y="0"/>
                    <a:pt x="448818" y="0"/>
                  </a:cubicBezTo>
                  <a:lnTo>
                    <a:pt x="6792849" y="0"/>
                  </a:lnTo>
                  <a:cubicBezTo>
                    <a:pt x="7040753" y="0"/>
                    <a:pt x="7241667" y="198374"/>
                    <a:pt x="7241667" y="443230"/>
                  </a:cubicBezTo>
                  <a:cubicBezTo>
                    <a:pt x="7241667" y="688086"/>
                    <a:pt x="7040753" y="886460"/>
                    <a:pt x="6792849" y="886460"/>
                  </a:cubicBezTo>
                  <a:lnTo>
                    <a:pt x="448818" y="886460"/>
                  </a:lnTo>
                  <a:cubicBezTo>
                    <a:pt x="200914" y="886460"/>
                    <a:pt x="0" y="687959"/>
                    <a:pt x="0" y="443230"/>
                  </a:cubicBezTo>
                  <a:close/>
                </a:path>
              </a:pathLst>
            </a:custGeom>
            <a:solidFill>
              <a:srgbClr val="542C4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54367" cy="899160"/>
            </a:xfrm>
            <a:custGeom>
              <a:avLst/>
              <a:gdLst/>
              <a:ahLst/>
              <a:cxnLst/>
              <a:rect r="r" b="b" t="t" l="l"/>
              <a:pathLst>
                <a:path h="899160" w="7254367">
                  <a:moveTo>
                    <a:pt x="0" y="449580"/>
                  </a:moveTo>
                  <a:cubicBezTo>
                    <a:pt x="0" y="201168"/>
                    <a:pt x="203835" y="0"/>
                    <a:pt x="455168" y="0"/>
                  </a:cubicBezTo>
                  <a:lnTo>
                    <a:pt x="6799199" y="0"/>
                  </a:lnTo>
                  <a:lnTo>
                    <a:pt x="6799199" y="6350"/>
                  </a:lnTo>
                  <a:lnTo>
                    <a:pt x="6799199" y="0"/>
                  </a:lnTo>
                  <a:cubicBezTo>
                    <a:pt x="7050532" y="0"/>
                    <a:pt x="7254367" y="201168"/>
                    <a:pt x="7254367" y="449580"/>
                  </a:cubicBezTo>
                  <a:lnTo>
                    <a:pt x="7248017" y="449580"/>
                  </a:lnTo>
                  <a:lnTo>
                    <a:pt x="7254367" y="449580"/>
                  </a:lnTo>
                  <a:lnTo>
                    <a:pt x="7248017" y="449580"/>
                  </a:lnTo>
                  <a:lnTo>
                    <a:pt x="7254367" y="449580"/>
                  </a:lnTo>
                  <a:cubicBezTo>
                    <a:pt x="7254367" y="697992"/>
                    <a:pt x="7050532" y="899160"/>
                    <a:pt x="6799199" y="899160"/>
                  </a:cubicBezTo>
                  <a:lnTo>
                    <a:pt x="6799199" y="892810"/>
                  </a:lnTo>
                  <a:lnTo>
                    <a:pt x="6799199" y="899160"/>
                  </a:lnTo>
                  <a:lnTo>
                    <a:pt x="455168" y="899160"/>
                  </a:lnTo>
                  <a:lnTo>
                    <a:pt x="455168" y="892810"/>
                  </a:lnTo>
                  <a:lnTo>
                    <a:pt x="455168" y="899160"/>
                  </a:lnTo>
                  <a:cubicBezTo>
                    <a:pt x="203835" y="899160"/>
                    <a:pt x="0" y="697865"/>
                    <a:pt x="0" y="449580"/>
                  </a:cubicBezTo>
                  <a:lnTo>
                    <a:pt x="6350" y="449580"/>
                  </a:lnTo>
                  <a:lnTo>
                    <a:pt x="0" y="449580"/>
                  </a:lnTo>
                  <a:moveTo>
                    <a:pt x="12700" y="449580"/>
                  </a:moveTo>
                  <a:lnTo>
                    <a:pt x="6350" y="449580"/>
                  </a:lnTo>
                  <a:lnTo>
                    <a:pt x="12700" y="449580"/>
                  </a:lnTo>
                  <a:cubicBezTo>
                    <a:pt x="12700" y="690753"/>
                    <a:pt x="210693" y="886460"/>
                    <a:pt x="455168" y="886460"/>
                  </a:cubicBezTo>
                  <a:lnTo>
                    <a:pt x="6799199" y="886460"/>
                  </a:lnTo>
                  <a:cubicBezTo>
                    <a:pt x="7043674" y="886460"/>
                    <a:pt x="7241667" y="690753"/>
                    <a:pt x="7241667" y="449580"/>
                  </a:cubicBezTo>
                  <a:cubicBezTo>
                    <a:pt x="7241667" y="208407"/>
                    <a:pt x="7043547" y="12700"/>
                    <a:pt x="6799199" y="12700"/>
                  </a:cubicBezTo>
                  <a:lnTo>
                    <a:pt x="455168" y="12700"/>
                  </a:lnTo>
                  <a:lnTo>
                    <a:pt x="455168" y="6350"/>
                  </a:lnTo>
                  <a:lnTo>
                    <a:pt x="455168" y="12700"/>
                  </a:lnTo>
                  <a:cubicBezTo>
                    <a:pt x="210693" y="12700"/>
                    <a:pt x="12700" y="208407"/>
                    <a:pt x="12700" y="44958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4630549" y="4494162"/>
            <a:ext cx="332334" cy="332334"/>
          </a:xfrm>
          <a:custGeom>
            <a:avLst/>
            <a:gdLst/>
            <a:ahLst/>
            <a:cxnLst/>
            <a:rect r="r" b="b" t="t" l="l"/>
            <a:pathLst>
              <a:path h="332334" w="332334">
                <a:moveTo>
                  <a:pt x="0" y="0"/>
                </a:moveTo>
                <a:lnTo>
                  <a:pt x="332334" y="0"/>
                </a:lnTo>
                <a:lnTo>
                  <a:pt x="332334" y="332334"/>
                </a:lnTo>
                <a:lnTo>
                  <a:pt x="0" y="3323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714" r="0" b="-5714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02729" y="5204966"/>
            <a:ext cx="2955280" cy="37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Kesimpulan Proyek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02729" y="5650111"/>
            <a:ext cx="4987975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Sub-CPMK 2.1: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Operasi matriks (manual + library) terimplementasi dengan baik.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02729" y="6436667"/>
            <a:ext cx="4987975" cy="77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Sub-CPMK 2.2: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Dekomposisi LU, QR, Eigen berhasil diverifikasi dan diterapkan.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02729" y="7223224"/>
            <a:ext cx="4987975" cy="113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2749"/>
              </a:lnSpc>
              <a:buFont typeface="Arial"/>
              <a:buChar char="•"/>
            </a:pPr>
            <a:r>
              <a:rPr lang="en-US" b="true" sz="1687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Sub-CPMK 2.3: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Pemodelan graf menghasilkan wawasan yang </a:t>
            </a:r>
            <a:r>
              <a:rPr lang="en-US" sz="1687">
                <a:solidFill>
                  <a:srgbClr val="EEE27D"/>
                </a:solidFill>
                <a:latin typeface="Mukta Light"/>
                <a:ea typeface="Mukta Light"/>
                <a:cs typeface="Mukta Light"/>
                <a:sym typeface="Mukta Light"/>
              </a:rPr>
              <a:t>dapat ditindaklanjuti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untuk jaringan sosial.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8025" y="9006929"/>
            <a:ext cx="16404282" cy="42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Dampak Dunia Nyata:</a:t>
            </a:r>
            <a:r>
              <a:rPr lang="en-US" sz="168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Metode ini berlaku untuk analisis jaringan sosial, sistem rekomendasi, deteksi komunitas di jaringan besar, dan pemodelan difusi informasi.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75692" y="8824318"/>
            <a:ext cx="28575" cy="853083"/>
            <a:chOff x="0" y="0"/>
            <a:chExt cx="38100" cy="11374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00" cy="1137412"/>
            </a:xfrm>
            <a:custGeom>
              <a:avLst/>
              <a:gdLst/>
              <a:ahLst/>
              <a:cxnLst/>
              <a:rect r="r" b="b" t="t" l="l"/>
              <a:pathLst>
                <a:path h="1137412" w="38100">
                  <a:moveTo>
                    <a:pt x="0" y="0"/>
                  </a:moveTo>
                  <a:lnTo>
                    <a:pt x="38100" y="0"/>
                  </a:lnTo>
                  <a:lnTo>
                    <a:pt x="38100" y="1137412"/>
                  </a:lnTo>
                  <a:lnTo>
                    <a:pt x="0" y="1137412"/>
                  </a:ln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895451"/>
            <a:chOff x="0" y="0"/>
            <a:chExt cx="24384000" cy="38606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3860546"/>
            </a:xfrm>
            <a:custGeom>
              <a:avLst/>
              <a:gdLst/>
              <a:ahLst/>
              <a:cxnLst/>
              <a:rect r="r" b="b" t="t" l="l"/>
              <a:pathLst>
                <a:path h="386054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60546"/>
                  </a:lnTo>
                  <a:lnTo>
                    <a:pt x="0" y="3860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4795" r="0" b="-11101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0666" y="3504307"/>
            <a:ext cx="5293221" cy="67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0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Pertanyaan &amp; Diskusi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666" y="4456956"/>
            <a:ext cx="16666666" cy="43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Kami telah menyiapkan beberapa jawaban untuk pertanyaan yang mungkin muncul.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6379" y="5140226"/>
            <a:ext cx="5429696" cy="3183136"/>
            <a:chOff x="0" y="0"/>
            <a:chExt cx="7239595" cy="42441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7201408" cy="4206113"/>
            </a:xfrm>
            <a:custGeom>
              <a:avLst/>
              <a:gdLst/>
              <a:ahLst/>
              <a:cxnLst/>
              <a:rect r="r" b="b" t="t" l="l"/>
              <a:pathLst>
                <a:path h="4206113" w="7201408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7017893" y="0"/>
                  </a:lnTo>
                  <a:cubicBezTo>
                    <a:pt x="7119239" y="0"/>
                    <a:pt x="7201408" y="81915"/>
                    <a:pt x="7201408" y="182880"/>
                  </a:cubicBezTo>
                  <a:lnTo>
                    <a:pt x="7201408" y="4023233"/>
                  </a:lnTo>
                  <a:cubicBezTo>
                    <a:pt x="7201408" y="4124198"/>
                    <a:pt x="7119239" y="4206113"/>
                    <a:pt x="7017893" y="4206113"/>
                  </a:cubicBezTo>
                  <a:lnTo>
                    <a:pt x="183515" y="4206113"/>
                  </a:lnTo>
                  <a:cubicBezTo>
                    <a:pt x="82169" y="4206113"/>
                    <a:pt x="0" y="4124198"/>
                    <a:pt x="0" y="4023233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39508" cy="4244213"/>
            </a:xfrm>
            <a:custGeom>
              <a:avLst/>
              <a:gdLst/>
              <a:ahLst/>
              <a:cxnLst/>
              <a:rect r="r" b="b" t="t" l="l"/>
              <a:pathLst>
                <a:path h="4244213" w="7239508">
                  <a:moveTo>
                    <a:pt x="0" y="201930"/>
                  </a:moveTo>
                  <a:cubicBezTo>
                    <a:pt x="0" y="90297"/>
                    <a:pt x="90805" y="0"/>
                    <a:pt x="202565" y="0"/>
                  </a:cubicBezTo>
                  <a:lnTo>
                    <a:pt x="7036943" y="0"/>
                  </a:lnTo>
                  <a:lnTo>
                    <a:pt x="7036943" y="19050"/>
                  </a:lnTo>
                  <a:lnTo>
                    <a:pt x="7036943" y="0"/>
                  </a:lnTo>
                  <a:cubicBezTo>
                    <a:pt x="7148830" y="0"/>
                    <a:pt x="7239508" y="90297"/>
                    <a:pt x="7239508" y="201930"/>
                  </a:cubicBezTo>
                  <a:lnTo>
                    <a:pt x="7220458" y="201930"/>
                  </a:lnTo>
                  <a:lnTo>
                    <a:pt x="7239508" y="201930"/>
                  </a:lnTo>
                  <a:lnTo>
                    <a:pt x="7239508" y="4042283"/>
                  </a:lnTo>
                  <a:lnTo>
                    <a:pt x="7220458" y="4042283"/>
                  </a:lnTo>
                  <a:lnTo>
                    <a:pt x="7239508" y="4042283"/>
                  </a:lnTo>
                  <a:cubicBezTo>
                    <a:pt x="7239508" y="4153916"/>
                    <a:pt x="7148703" y="4244213"/>
                    <a:pt x="7036943" y="4244213"/>
                  </a:cubicBezTo>
                  <a:lnTo>
                    <a:pt x="7036943" y="4225163"/>
                  </a:lnTo>
                  <a:lnTo>
                    <a:pt x="7036943" y="4244213"/>
                  </a:lnTo>
                  <a:lnTo>
                    <a:pt x="202565" y="4244213"/>
                  </a:lnTo>
                  <a:lnTo>
                    <a:pt x="202565" y="4225163"/>
                  </a:lnTo>
                  <a:lnTo>
                    <a:pt x="202565" y="4244213"/>
                  </a:lnTo>
                  <a:cubicBezTo>
                    <a:pt x="90805" y="4244213"/>
                    <a:pt x="0" y="4153789"/>
                    <a:pt x="0" y="40422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042283"/>
                  </a:lnTo>
                  <a:lnTo>
                    <a:pt x="19050" y="4042283"/>
                  </a:lnTo>
                  <a:lnTo>
                    <a:pt x="38100" y="4042283"/>
                  </a:lnTo>
                  <a:cubicBezTo>
                    <a:pt x="38100" y="4132707"/>
                    <a:pt x="111633" y="4206113"/>
                    <a:pt x="202565" y="4206113"/>
                  </a:cubicBezTo>
                  <a:lnTo>
                    <a:pt x="7036943" y="4206113"/>
                  </a:lnTo>
                  <a:cubicBezTo>
                    <a:pt x="7127875" y="4206113"/>
                    <a:pt x="7201408" y="4132707"/>
                    <a:pt x="7201408" y="4042283"/>
                  </a:cubicBezTo>
                  <a:lnTo>
                    <a:pt x="7201408" y="201930"/>
                  </a:lnTo>
                  <a:cubicBezTo>
                    <a:pt x="7201408" y="111506"/>
                    <a:pt x="7127875" y="38100"/>
                    <a:pt x="7036943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82091" y="5154514"/>
            <a:ext cx="114300" cy="3154561"/>
            <a:chOff x="0" y="0"/>
            <a:chExt cx="152400" cy="42060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4206113"/>
            </a:xfrm>
            <a:custGeom>
              <a:avLst/>
              <a:gdLst/>
              <a:ahLst/>
              <a:cxnLst/>
              <a:rect r="r" b="b" t="t" l="l"/>
              <a:pathLst>
                <a:path h="420611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4129913"/>
                  </a:lnTo>
                  <a:cubicBezTo>
                    <a:pt x="152400" y="4171950"/>
                    <a:pt x="118237" y="4206113"/>
                    <a:pt x="76200" y="4206113"/>
                  </a:cubicBezTo>
                  <a:cubicBezTo>
                    <a:pt x="34163" y="4206113"/>
                    <a:pt x="0" y="4171950"/>
                    <a:pt x="0" y="4129913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56544" y="5395615"/>
            <a:ext cx="4795094" cy="66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Q1: Mengapa eigendecomposition untuk centrality?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6544" y="6130081"/>
            <a:ext cx="4795094" cy="191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Eigenvector centrality menangkap kualitas koneksi, bukan hanya kuantitas, dengan mempertimbangkan koneksi ke node penting. Ini lebih canggih daripada penghitungan degree sederhana.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29077" y="5140226"/>
            <a:ext cx="5429696" cy="3183136"/>
            <a:chOff x="0" y="0"/>
            <a:chExt cx="7239595" cy="42441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7201408" cy="4206113"/>
            </a:xfrm>
            <a:custGeom>
              <a:avLst/>
              <a:gdLst/>
              <a:ahLst/>
              <a:cxnLst/>
              <a:rect r="r" b="b" t="t" l="l"/>
              <a:pathLst>
                <a:path h="4206113" w="7201408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7017893" y="0"/>
                  </a:lnTo>
                  <a:cubicBezTo>
                    <a:pt x="7119239" y="0"/>
                    <a:pt x="7201408" y="81915"/>
                    <a:pt x="7201408" y="182880"/>
                  </a:cubicBezTo>
                  <a:lnTo>
                    <a:pt x="7201408" y="4023233"/>
                  </a:lnTo>
                  <a:cubicBezTo>
                    <a:pt x="7201408" y="4124198"/>
                    <a:pt x="7119239" y="4206113"/>
                    <a:pt x="7017893" y="4206113"/>
                  </a:cubicBezTo>
                  <a:lnTo>
                    <a:pt x="183515" y="4206113"/>
                  </a:lnTo>
                  <a:cubicBezTo>
                    <a:pt x="82169" y="4206113"/>
                    <a:pt x="0" y="4124198"/>
                    <a:pt x="0" y="4023233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39508" cy="4244213"/>
            </a:xfrm>
            <a:custGeom>
              <a:avLst/>
              <a:gdLst/>
              <a:ahLst/>
              <a:cxnLst/>
              <a:rect r="r" b="b" t="t" l="l"/>
              <a:pathLst>
                <a:path h="4244213" w="7239508">
                  <a:moveTo>
                    <a:pt x="0" y="201930"/>
                  </a:moveTo>
                  <a:cubicBezTo>
                    <a:pt x="0" y="90297"/>
                    <a:pt x="90805" y="0"/>
                    <a:pt x="202565" y="0"/>
                  </a:cubicBezTo>
                  <a:lnTo>
                    <a:pt x="7036943" y="0"/>
                  </a:lnTo>
                  <a:lnTo>
                    <a:pt x="7036943" y="19050"/>
                  </a:lnTo>
                  <a:lnTo>
                    <a:pt x="7036943" y="0"/>
                  </a:lnTo>
                  <a:cubicBezTo>
                    <a:pt x="7148830" y="0"/>
                    <a:pt x="7239508" y="90297"/>
                    <a:pt x="7239508" y="201930"/>
                  </a:cubicBezTo>
                  <a:lnTo>
                    <a:pt x="7220458" y="201930"/>
                  </a:lnTo>
                  <a:lnTo>
                    <a:pt x="7239508" y="201930"/>
                  </a:lnTo>
                  <a:lnTo>
                    <a:pt x="7239508" y="4042283"/>
                  </a:lnTo>
                  <a:lnTo>
                    <a:pt x="7220458" y="4042283"/>
                  </a:lnTo>
                  <a:lnTo>
                    <a:pt x="7239508" y="4042283"/>
                  </a:lnTo>
                  <a:cubicBezTo>
                    <a:pt x="7239508" y="4153916"/>
                    <a:pt x="7148703" y="4244213"/>
                    <a:pt x="7036943" y="4244213"/>
                  </a:cubicBezTo>
                  <a:lnTo>
                    <a:pt x="7036943" y="4225163"/>
                  </a:lnTo>
                  <a:lnTo>
                    <a:pt x="7036943" y="4244213"/>
                  </a:lnTo>
                  <a:lnTo>
                    <a:pt x="202565" y="4244213"/>
                  </a:lnTo>
                  <a:lnTo>
                    <a:pt x="202565" y="4225163"/>
                  </a:lnTo>
                  <a:lnTo>
                    <a:pt x="202565" y="4244213"/>
                  </a:lnTo>
                  <a:cubicBezTo>
                    <a:pt x="90805" y="4244213"/>
                    <a:pt x="0" y="4153789"/>
                    <a:pt x="0" y="40422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042283"/>
                  </a:lnTo>
                  <a:lnTo>
                    <a:pt x="19050" y="4042283"/>
                  </a:lnTo>
                  <a:lnTo>
                    <a:pt x="38100" y="4042283"/>
                  </a:lnTo>
                  <a:cubicBezTo>
                    <a:pt x="38100" y="4132707"/>
                    <a:pt x="111633" y="4206113"/>
                    <a:pt x="202565" y="4206113"/>
                  </a:cubicBezTo>
                  <a:lnTo>
                    <a:pt x="7036943" y="4206113"/>
                  </a:lnTo>
                  <a:cubicBezTo>
                    <a:pt x="7127875" y="4206113"/>
                    <a:pt x="7201408" y="4132707"/>
                    <a:pt x="7201408" y="4042283"/>
                  </a:cubicBezTo>
                  <a:lnTo>
                    <a:pt x="7201408" y="201930"/>
                  </a:lnTo>
                  <a:cubicBezTo>
                    <a:pt x="7201408" y="111506"/>
                    <a:pt x="7127875" y="38100"/>
                    <a:pt x="7036943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14790" y="5154514"/>
            <a:ext cx="114300" cy="3154561"/>
            <a:chOff x="0" y="0"/>
            <a:chExt cx="152400" cy="42060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4206113"/>
            </a:xfrm>
            <a:custGeom>
              <a:avLst/>
              <a:gdLst/>
              <a:ahLst/>
              <a:cxnLst/>
              <a:rect r="r" b="b" t="t" l="l"/>
              <a:pathLst>
                <a:path h="420611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4129913"/>
                  </a:lnTo>
                  <a:cubicBezTo>
                    <a:pt x="152400" y="4171950"/>
                    <a:pt x="118237" y="4206113"/>
                    <a:pt x="76200" y="4206113"/>
                  </a:cubicBezTo>
                  <a:cubicBezTo>
                    <a:pt x="34163" y="4206113"/>
                    <a:pt x="0" y="4171950"/>
                    <a:pt x="0" y="4129913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789241" y="5395615"/>
            <a:ext cx="4795094" cy="66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Q2: Bagaimana untuk graf sangat besar?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89241" y="6130081"/>
            <a:ext cx="4795094" cy="154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Gunakan </a:t>
            </a:r>
            <a:r>
              <a:rPr lang="en-US" sz="181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sparse matrices</a:t>
            </a: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(SciPy) dan </a:t>
            </a:r>
            <a:r>
              <a:rPr lang="en-US" sz="181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algoritma iteratif</a:t>
            </a: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(power iteration untuk eigenvalues) untuk menjaga kompleksitas tetap manageable melalui optimasi.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61775" y="5140226"/>
            <a:ext cx="5429696" cy="3183136"/>
            <a:chOff x="0" y="0"/>
            <a:chExt cx="7239595" cy="42441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7201408" cy="4206113"/>
            </a:xfrm>
            <a:custGeom>
              <a:avLst/>
              <a:gdLst/>
              <a:ahLst/>
              <a:cxnLst/>
              <a:rect r="r" b="b" t="t" l="l"/>
              <a:pathLst>
                <a:path h="4206113" w="7201408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7017893" y="0"/>
                  </a:lnTo>
                  <a:cubicBezTo>
                    <a:pt x="7119239" y="0"/>
                    <a:pt x="7201408" y="81915"/>
                    <a:pt x="7201408" y="182880"/>
                  </a:cubicBezTo>
                  <a:lnTo>
                    <a:pt x="7201408" y="4023233"/>
                  </a:lnTo>
                  <a:cubicBezTo>
                    <a:pt x="7201408" y="4124198"/>
                    <a:pt x="7119239" y="4206113"/>
                    <a:pt x="7017893" y="4206113"/>
                  </a:cubicBezTo>
                  <a:lnTo>
                    <a:pt x="183515" y="4206113"/>
                  </a:lnTo>
                  <a:cubicBezTo>
                    <a:pt x="82169" y="4206113"/>
                    <a:pt x="0" y="4124198"/>
                    <a:pt x="0" y="4023233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39508" cy="4244213"/>
            </a:xfrm>
            <a:custGeom>
              <a:avLst/>
              <a:gdLst/>
              <a:ahLst/>
              <a:cxnLst/>
              <a:rect r="r" b="b" t="t" l="l"/>
              <a:pathLst>
                <a:path h="4244213" w="7239508">
                  <a:moveTo>
                    <a:pt x="0" y="201930"/>
                  </a:moveTo>
                  <a:cubicBezTo>
                    <a:pt x="0" y="90297"/>
                    <a:pt x="90805" y="0"/>
                    <a:pt x="202565" y="0"/>
                  </a:cubicBezTo>
                  <a:lnTo>
                    <a:pt x="7036943" y="0"/>
                  </a:lnTo>
                  <a:lnTo>
                    <a:pt x="7036943" y="19050"/>
                  </a:lnTo>
                  <a:lnTo>
                    <a:pt x="7036943" y="0"/>
                  </a:lnTo>
                  <a:cubicBezTo>
                    <a:pt x="7148830" y="0"/>
                    <a:pt x="7239508" y="90297"/>
                    <a:pt x="7239508" y="201930"/>
                  </a:cubicBezTo>
                  <a:lnTo>
                    <a:pt x="7220458" y="201930"/>
                  </a:lnTo>
                  <a:lnTo>
                    <a:pt x="7239508" y="201930"/>
                  </a:lnTo>
                  <a:lnTo>
                    <a:pt x="7239508" y="4042283"/>
                  </a:lnTo>
                  <a:lnTo>
                    <a:pt x="7220458" y="4042283"/>
                  </a:lnTo>
                  <a:lnTo>
                    <a:pt x="7239508" y="4042283"/>
                  </a:lnTo>
                  <a:cubicBezTo>
                    <a:pt x="7239508" y="4153916"/>
                    <a:pt x="7148703" y="4244213"/>
                    <a:pt x="7036943" y="4244213"/>
                  </a:cubicBezTo>
                  <a:lnTo>
                    <a:pt x="7036943" y="4225163"/>
                  </a:lnTo>
                  <a:lnTo>
                    <a:pt x="7036943" y="4244213"/>
                  </a:lnTo>
                  <a:lnTo>
                    <a:pt x="202565" y="4244213"/>
                  </a:lnTo>
                  <a:lnTo>
                    <a:pt x="202565" y="4225163"/>
                  </a:lnTo>
                  <a:lnTo>
                    <a:pt x="202565" y="4244213"/>
                  </a:lnTo>
                  <a:cubicBezTo>
                    <a:pt x="90805" y="4244213"/>
                    <a:pt x="0" y="4153789"/>
                    <a:pt x="0" y="40422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042283"/>
                  </a:lnTo>
                  <a:lnTo>
                    <a:pt x="19050" y="4042283"/>
                  </a:lnTo>
                  <a:lnTo>
                    <a:pt x="38100" y="4042283"/>
                  </a:lnTo>
                  <a:cubicBezTo>
                    <a:pt x="38100" y="4132707"/>
                    <a:pt x="111633" y="4206113"/>
                    <a:pt x="202565" y="4206113"/>
                  </a:cubicBezTo>
                  <a:lnTo>
                    <a:pt x="7036943" y="4206113"/>
                  </a:lnTo>
                  <a:cubicBezTo>
                    <a:pt x="7127875" y="4206113"/>
                    <a:pt x="7201408" y="4132707"/>
                    <a:pt x="7201408" y="4042283"/>
                  </a:cubicBezTo>
                  <a:lnTo>
                    <a:pt x="7201408" y="201930"/>
                  </a:lnTo>
                  <a:cubicBezTo>
                    <a:pt x="7201408" y="111506"/>
                    <a:pt x="7127875" y="38100"/>
                    <a:pt x="7036943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6D456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047487" y="5154514"/>
            <a:ext cx="114300" cy="3154561"/>
            <a:chOff x="0" y="0"/>
            <a:chExt cx="152400" cy="42060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4206113"/>
            </a:xfrm>
            <a:custGeom>
              <a:avLst/>
              <a:gdLst/>
              <a:ahLst/>
              <a:cxnLst/>
              <a:rect r="r" b="b" t="t" l="l"/>
              <a:pathLst>
                <a:path h="420611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4129913"/>
                  </a:lnTo>
                  <a:cubicBezTo>
                    <a:pt x="152400" y="4171950"/>
                    <a:pt x="118237" y="4206113"/>
                    <a:pt x="76200" y="4206113"/>
                  </a:cubicBezTo>
                  <a:cubicBezTo>
                    <a:pt x="34163" y="4206113"/>
                    <a:pt x="0" y="4171950"/>
                    <a:pt x="0" y="4129913"/>
                  </a:cubicBezTo>
                  <a:close/>
                </a:path>
              </a:pathLst>
            </a:custGeom>
            <a:solidFill>
              <a:srgbClr val="A95B9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421940" y="5395615"/>
            <a:ext cx="4795094" cy="66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Q3: Apakah metode ini bisa untuk directed graphs?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21940" y="6130081"/>
            <a:ext cx="4795094" cy="117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Ya, matriks adjacency tidak perlu simetris. Namun, interpretasi ukuran sentralitas perlu disesuaikan (misal, in-degree vs. out-degree).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DAG6hDjc4XU</dc:identifier>
  <dcterms:modified xsi:type="dcterms:W3CDTF">2011-08-01T06:04:30Z</dcterms:modified>
  <cp:revision>1</cp:revision>
  <dc:title>Penerapan-Konsep-Matriks-untuk-Penyelesaian-Masalah-Komputasi-dalam-Informatika (2).pptx</dc:title>
</cp:coreProperties>
</file>